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hkio" charset="1" panose="00000000000000000000"/>
      <p:regular r:id="rId16"/>
    </p:embeddedFont>
    <p:embeddedFont>
      <p:font typeface="Handy Casual" charset="1" panose="00000500000000000000"/>
      <p:regular r:id="rId17"/>
    </p:embeddedFont>
    <p:embeddedFont>
      <p:font typeface="Ahkio Bold" charset="1" panose="00000000000000000000"/>
      <p:regular r:id="rId18"/>
    </p:embeddedFont>
    <p:embeddedFont>
      <p:font typeface="TAN Headline" charset="1" panose="00000000000000000000"/>
      <p:regular r:id="rId19"/>
    </p:embeddedFont>
    <p:embeddedFont>
      <p:font typeface="Pompiere"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31.jpe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40.png" Type="http://schemas.openxmlformats.org/officeDocument/2006/relationships/image"/><Relationship Id="rId13" Target="../media/image41.sv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91669">
            <a:off x="1994413" y="1212762"/>
            <a:ext cx="1737858" cy="1583030"/>
          </a:xfrm>
          <a:custGeom>
            <a:avLst/>
            <a:gdLst/>
            <a:ahLst/>
            <a:cxnLst/>
            <a:rect r="r" b="b" t="t" l="l"/>
            <a:pathLst>
              <a:path h="1583030" w="1737858">
                <a:moveTo>
                  <a:pt x="0" y="0"/>
                </a:moveTo>
                <a:lnTo>
                  <a:pt x="1737857" y="0"/>
                </a:lnTo>
                <a:lnTo>
                  <a:pt x="1737857" y="1583031"/>
                </a:lnTo>
                <a:lnTo>
                  <a:pt x="0" y="1583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211156" y="3028505"/>
            <a:ext cx="12024150" cy="2600324"/>
          </a:xfrm>
          <a:prstGeom prst="rect">
            <a:avLst/>
          </a:prstGeom>
        </p:spPr>
        <p:txBody>
          <a:bodyPr anchor="t" rtlCol="false" tIns="0" lIns="0" bIns="0" rIns="0">
            <a:spAutoFit/>
          </a:bodyPr>
          <a:lstStyle/>
          <a:p>
            <a:pPr algn="ctr">
              <a:lnSpc>
                <a:spcPts val="9899"/>
              </a:lnSpc>
            </a:pPr>
            <a:r>
              <a:rPr lang="en-US" sz="9999" spc="219">
                <a:solidFill>
                  <a:srgbClr val="000000"/>
                </a:solidFill>
                <a:latin typeface="Ahkio"/>
                <a:ea typeface="Ahkio"/>
                <a:cs typeface="Ahkio"/>
                <a:sym typeface="Ahkio"/>
              </a:rPr>
              <a:t>Satellite  &amp;  IoT Pipeline  Leak Monitoring</a:t>
            </a:r>
          </a:p>
        </p:txBody>
      </p:sp>
      <p:sp>
        <p:nvSpPr>
          <p:cNvPr name="Freeform 6" id="6"/>
          <p:cNvSpPr/>
          <p:nvPr/>
        </p:nvSpPr>
        <p:spPr>
          <a:xfrm flipH="false" flipV="true" rot="-3119757">
            <a:off x="15642433" y="2314169"/>
            <a:ext cx="4560715" cy="4833128"/>
          </a:xfrm>
          <a:custGeom>
            <a:avLst/>
            <a:gdLst/>
            <a:ahLst/>
            <a:cxnLst/>
            <a:rect r="r" b="b" t="t" l="l"/>
            <a:pathLst>
              <a:path h="4833128" w="4560715">
                <a:moveTo>
                  <a:pt x="0" y="4833128"/>
                </a:moveTo>
                <a:lnTo>
                  <a:pt x="4560715" y="4833128"/>
                </a:lnTo>
                <a:lnTo>
                  <a:pt x="4560715" y="0"/>
                </a:lnTo>
                <a:lnTo>
                  <a:pt x="0" y="0"/>
                </a:lnTo>
                <a:lnTo>
                  <a:pt x="0" y="483312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399026">
            <a:off x="14565719" y="729668"/>
            <a:ext cx="1719464" cy="2465181"/>
          </a:xfrm>
          <a:custGeom>
            <a:avLst/>
            <a:gdLst/>
            <a:ahLst/>
            <a:cxnLst/>
            <a:rect r="r" b="b" t="t" l="l"/>
            <a:pathLst>
              <a:path h="2465181" w="1719464">
                <a:moveTo>
                  <a:pt x="0" y="0"/>
                </a:moveTo>
                <a:lnTo>
                  <a:pt x="1719463" y="0"/>
                </a:lnTo>
                <a:lnTo>
                  <a:pt x="1719463" y="2465181"/>
                </a:lnTo>
                <a:lnTo>
                  <a:pt x="0" y="2465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4737558" y="8361819"/>
            <a:ext cx="5225042" cy="533400"/>
          </a:xfrm>
          <a:prstGeom prst="rect">
            <a:avLst/>
          </a:prstGeom>
        </p:spPr>
        <p:txBody>
          <a:bodyPr anchor="t" rtlCol="false" tIns="0" lIns="0" bIns="0" rIns="0">
            <a:spAutoFit/>
          </a:bodyPr>
          <a:lstStyle/>
          <a:p>
            <a:pPr algn="ctr">
              <a:lnSpc>
                <a:spcPts val="4199"/>
              </a:lnSpc>
              <a:spcBef>
                <a:spcPct val="0"/>
              </a:spcBef>
            </a:pPr>
            <a:r>
              <a:rPr lang="en-US" sz="3499">
                <a:solidFill>
                  <a:srgbClr val="000000"/>
                </a:solidFill>
                <a:latin typeface="Handy Casual"/>
                <a:ea typeface="Handy Casual"/>
                <a:cs typeface="Handy Casual"/>
                <a:sym typeface="Handy Casual"/>
              </a:rPr>
              <a:t>By Pranav Khatade</a:t>
            </a:r>
          </a:p>
        </p:txBody>
      </p:sp>
      <p:sp>
        <p:nvSpPr>
          <p:cNvPr name="TextBox 9" id="9"/>
          <p:cNvSpPr txBox="true"/>
          <p:nvPr/>
        </p:nvSpPr>
        <p:spPr>
          <a:xfrm rot="0">
            <a:off x="3796219" y="6640373"/>
            <a:ext cx="12024150" cy="695325"/>
          </a:xfrm>
          <a:prstGeom prst="rect">
            <a:avLst/>
          </a:prstGeom>
        </p:spPr>
        <p:txBody>
          <a:bodyPr anchor="t" rtlCol="false" tIns="0" lIns="0" bIns="0" rIns="0">
            <a:spAutoFit/>
          </a:bodyPr>
          <a:lstStyle/>
          <a:p>
            <a:pPr algn="l">
              <a:lnSpc>
                <a:spcPts val="4950"/>
              </a:lnSpc>
            </a:pPr>
            <a:r>
              <a:rPr lang="en-US" sz="5000" spc="110">
                <a:solidFill>
                  <a:srgbClr val="000000"/>
                </a:solidFill>
                <a:latin typeface="Ahkio"/>
                <a:ea typeface="Ahkio"/>
                <a:cs typeface="Ahkio"/>
                <a:sym typeface="Ahkio"/>
              </a:rPr>
              <a:t>Revolutionizing Water Loss Reduction System</a:t>
            </a:r>
          </a:p>
        </p:txBody>
      </p:sp>
      <p:sp>
        <p:nvSpPr>
          <p:cNvPr name="Freeform 10" id="10"/>
          <p:cNvSpPr/>
          <p:nvPr/>
        </p:nvSpPr>
        <p:spPr>
          <a:xfrm flipH="true" flipV="false" rot="-5400000">
            <a:off x="-5246117" y="4493250"/>
            <a:ext cx="11546413" cy="1595504"/>
          </a:xfrm>
          <a:custGeom>
            <a:avLst/>
            <a:gdLst/>
            <a:ahLst/>
            <a:cxnLst/>
            <a:rect r="r" b="b" t="t" l="l"/>
            <a:pathLst>
              <a:path h="1595504" w="11546413">
                <a:moveTo>
                  <a:pt x="11546413" y="0"/>
                </a:moveTo>
                <a:lnTo>
                  <a:pt x="0" y="0"/>
                </a:lnTo>
                <a:lnTo>
                  <a:pt x="0" y="1595504"/>
                </a:lnTo>
                <a:lnTo>
                  <a:pt x="11546413" y="1595504"/>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450494" y="377616"/>
            <a:ext cx="4584113" cy="3975676"/>
          </a:xfrm>
          <a:custGeom>
            <a:avLst/>
            <a:gdLst/>
            <a:ahLst/>
            <a:cxnLst/>
            <a:rect r="r" b="b" t="t" l="l"/>
            <a:pathLst>
              <a:path h="3975676" w="4584113">
                <a:moveTo>
                  <a:pt x="0" y="0"/>
                </a:moveTo>
                <a:lnTo>
                  <a:pt x="4584113" y="0"/>
                </a:lnTo>
                <a:lnTo>
                  <a:pt x="4584113" y="3975676"/>
                </a:lnTo>
                <a:lnTo>
                  <a:pt x="0" y="39756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810814">
            <a:off x="566146" y="1735881"/>
            <a:ext cx="3945639" cy="1323975"/>
          </a:xfrm>
          <a:prstGeom prst="rect">
            <a:avLst/>
          </a:prstGeom>
        </p:spPr>
        <p:txBody>
          <a:bodyPr anchor="t" rtlCol="false" tIns="0" lIns="0" bIns="0" rIns="0">
            <a:spAutoFit/>
          </a:bodyPr>
          <a:lstStyle/>
          <a:p>
            <a:pPr algn="ctr">
              <a:lnSpc>
                <a:spcPts val="4950"/>
              </a:lnSpc>
            </a:pPr>
            <a:r>
              <a:rPr lang="en-US" sz="5000" spc="110">
                <a:solidFill>
                  <a:srgbClr val="000000"/>
                </a:solidFill>
                <a:latin typeface="Ahkio"/>
                <a:ea typeface="Ahkio"/>
                <a:cs typeface="Ahkio"/>
                <a:sym typeface="Ahkio"/>
              </a:rPr>
              <a:t>The Water Leakage Crisis</a:t>
            </a:r>
          </a:p>
        </p:txBody>
      </p:sp>
      <p:sp>
        <p:nvSpPr>
          <p:cNvPr name="TextBox 4" id="4"/>
          <p:cNvSpPr txBox="true"/>
          <p:nvPr/>
        </p:nvSpPr>
        <p:spPr>
          <a:xfrm rot="0">
            <a:off x="4611858" y="3737136"/>
            <a:ext cx="12819145" cy="5408120"/>
          </a:xfrm>
          <a:prstGeom prst="rect">
            <a:avLst/>
          </a:prstGeom>
        </p:spPr>
        <p:txBody>
          <a:bodyPr anchor="t" rtlCol="false" tIns="0" lIns="0" bIns="0" rIns="0">
            <a:spAutoFit/>
          </a:bodyPr>
          <a:lstStyle/>
          <a:p>
            <a:pPr algn="l" marL="774552" indent="-387276" lvl="1">
              <a:lnSpc>
                <a:spcPts val="4771"/>
              </a:lnSpc>
              <a:buFont typeface="Arial"/>
              <a:buChar char="•"/>
            </a:pPr>
            <a:r>
              <a:rPr lang="en-US" sz="3587" spc="78">
                <a:solidFill>
                  <a:srgbClr val="000000"/>
                </a:solidFill>
                <a:latin typeface="Ahkio"/>
                <a:ea typeface="Ahkio"/>
                <a:cs typeface="Ahkio"/>
                <a:sym typeface="Ahkio"/>
              </a:rPr>
              <a:t>Water</a:t>
            </a:r>
            <a:r>
              <a:rPr lang="en-US" sz="3587" spc="78">
                <a:solidFill>
                  <a:srgbClr val="000000"/>
                </a:solidFill>
                <a:latin typeface="Ahkio"/>
                <a:ea typeface="Ahkio"/>
                <a:cs typeface="Ahkio"/>
                <a:sym typeface="Ahkio"/>
              </a:rPr>
              <a:t> loss crisis: 30–40% of water in pipelines is lost to leaks globally.</a:t>
            </a:r>
          </a:p>
          <a:p>
            <a:pPr algn="l">
              <a:lnSpc>
                <a:spcPts val="4771"/>
              </a:lnSpc>
            </a:pPr>
          </a:p>
          <a:p>
            <a:pPr algn="l" marL="774552" indent="-387276" lvl="1">
              <a:lnSpc>
                <a:spcPts val="4771"/>
              </a:lnSpc>
              <a:buFont typeface="Arial"/>
              <a:buChar char="•"/>
            </a:pPr>
            <a:r>
              <a:rPr lang="en-US" sz="3587" spc="78">
                <a:solidFill>
                  <a:srgbClr val="000000"/>
                </a:solidFill>
                <a:latin typeface="Ahkio"/>
                <a:ea typeface="Ahkio"/>
                <a:cs typeface="Ahkio"/>
                <a:sym typeface="Ahkio"/>
              </a:rPr>
              <a:t>Cos</a:t>
            </a:r>
            <a:r>
              <a:rPr lang="en-US" sz="3587" spc="78">
                <a:solidFill>
                  <a:srgbClr val="000000"/>
                </a:solidFill>
                <a:latin typeface="Ahkio"/>
                <a:ea typeface="Ahkio"/>
                <a:cs typeface="Ahkio"/>
                <a:sym typeface="Ahkio"/>
              </a:rPr>
              <a:t>tly detection: Traditional methods (manual inspection, sensors) are slow, expensive, and limited in coverage.</a:t>
            </a:r>
          </a:p>
          <a:p>
            <a:pPr algn="l">
              <a:lnSpc>
                <a:spcPts val="4771"/>
              </a:lnSpc>
            </a:pPr>
          </a:p>
          <a:p>
            <a:pPr algn="l" marL="774552" indent="-387276" lvl="1">
              <a:lnSpc>
                <a:spcPts val="4771"/>
              </a:lnSpc>
              <a:buFont typeface="Arial"/>
              <a:buChar char="•"/>
            </a:pPr>
            <a:r>
              <a:rPr lang="en-US" sz="3587" spc="78" u="none">
                <a:solidFill>
                  <a:srgbClr val="000000"/>
                </a:solidFill>
                <a:latin typeface="Ahkio"/>
                <a:ea typeface="Ahkio"/>
                <a:cs typeface="Ahkio"/>
                <a:sym typeface="Ahkio"/>
              </a:rPr>
              <a:t>I</a:t>
            </a:r>
            <a:r>
              <a:rPr lang="en-US" sz="3587" spc="78">
                <a:solidFill>
                  <a:srgbClr val="000000"/>
                </a:solidFill>
                <a:latin typeface="Ahkio"/>
                <a:ea typeface="Ahkio"/>
                <a:cs typeface="Ahkio"/>
                <a:sym typeface="Ahkio"/>
              </a:rPr>
              <a:t>mp</a:t>
            </a:r>
            <a:r>
              <a:rPr lang="en-US" sz="3587" spc="78" u="none">
                <a:solidFill>
                  <a:srgbClr val="000000"/>
                </a:solidFill>
                <a:latin typeface="Ahkio"/>
                <a:ea typeface="Ahkio"/>
                <a:cs typeface="Ahkio"/>
                <a:sym typeface="Ahkio"/>
              </a:rPr>
              <a:t>a</a:t>
            </a:r>
            <a:r>
              <a:rPr lang="en-US" sz="3587" spc="78">
                <a:solidFill>
                  <a:srgbClr val="000000"/>
                </a:solidFill>
                <a:latin typeface="Ahkio"/>
                <a:ea typeface="Ahkio"/>
                <a:cs typeface="Ahkio"/>
                <a:sym typeface="Ahkio"/>
              </a:rPr>
              <a:t>ct:</a:t>
            </a:r>
            <a:r>
              <a:rPr lang="en-US" sz="3587" spc="78" u="none">
                <a:solidFill>
                  <a:srgbClr val="000000"/>
                </a:solidFill>
                <a:latin typeface="Ahkio"/>
                <a:ea typeface="Ahkio"/>
                <a:cs typeface="Ahkio"/>
                <a:sym typeface="Ahkio"/>
              </a:rPr>
              <a:t> </a:t>
            </a:r>
            <a:r>
              <a:rPr lang="en-US" sz="3587" spc="78">
                <a:solidFill>
                  <a:srgbClr val="000000"/>
                </a:solidFill>
                <a:latin typeface="Ahkio"/>
                <a:ea typeface="Ahkio"/>
                <a:cs typeface="Ahkio"/>
                <a:sym typeface="Ahkio"/>
              </a:rPr>
              <a:t>Wastage of billi</a:t>
            </a:r>
            <a:r>
              <a:rPr lang="en-US" sz="3587" spc="78" u="none">
                <a:solidFill>
                  <a:srgbClr val="000000"/>
                </a:solidFill>
                <a:latin typeface="Ahkio"/>
                <a:ea typeface="Ahkio"/>
                <a:cs typeface="Ahkio"/>
                <a:sym typeface="Ahkio"/>
              </a:rPr>
              <a:t>on</a:t>
            </a:r>
            <a:r>
              <a:rPr lang="en-US" sz="3587" spc="78">
                <a:solidFill>
                  <a:srgbClr val="000000"/>
                </a:solidFill>
                <a:latin typeface="Ahkio"/>
                <a:ea typeface="Ahkio"/>
                <a:cs typeface="Ahkio"/>
                <a:sym typeface="Ahkio"/>
              </a:rPr>
              <a:t>s of li</a:t>
            </a:r>
            <a:r>
              <a:rPr lang="en-US" sz="3587" spc="78" u="none">
                <a:solidFill>
                  <a:srgbClr val="000000"/>
                </a:solidFill>
                <a:latin typeface="Ahkio"/>
                <a:ea typeface="Ahkio"/>
                <a:cs typeface="Ahkio"/>
                <a:sym typeface="Ahkio"/>
              </a:rPr>
              <a:t>te</a:t>
            </a:r>
            <a:r>
              <a:rPr lang="en-US" sz="3587" spc="78">
                <a:solidFill>
                  <a:srgbClr val="000000"/>
                </a:solidFill>
                <a:latin typeface="Ahkio"/>
                <a:ea typeface="Ahkio"/>
                <a:cs typeface="Ahkio"/>
                <a:sym typeface="Ahkio"/>
              </a:rPr>
              <a:t>rs annually, infrastructure damage, and increased costs for utilities.</a:t>
            </a:r>
          </a:p>
          <a:p>
            <a:pPr algn="l">
              <a:lnSpc>
                <a:spcPts val="4771"/>
              </a:lnSpc>
            </a:pPr>
          </a:p>
        </p:txBody>
      </p:sp>
      <p:sp>
        <p:nvSpPr>
          <p:cNvPr name="Freeform 5" id="5"/>
          <p:cNvSpPr/>
          <p:nvPr/>
        </p:nvSpPr>
        <p:spPr>
          <a:xfrm flipH="false" flipV="true" rot="5856579">
            <a:off x="67316" y="3482031"/>
            <a:ext cx="4330427" cy="4589084"/>
          </a:xfrm>
          <a:custGeom>
            <a:avLst/>
            <a:gdLst/>
            <a:ahLst/>
            <a:cxnLst/>
            <a:rect r="r" b="b" t="t" l="l"/>
            <a:pathLst>
              <a:path h="4589084" w="4330427">
                <a:moveTo>
                  <a:pt x="0" y="4589084"/>
                </a:moveTo>
                <a:lnTo>
                  <a:pt x="4330427" y="4589084"/>
                </a:lnTo>
                <a:lnTo>
                  <a:pt x="4330427" y="0"/>
                </a:lnTo>
                <a:lnTo>
                  <a:pt x="0" y="0"/>
                </a:lnTo>
                <a:lnTo>
                  <a:pt x="0" y="458908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6190582">
            <a:off x="16502236" y="2636960"/>
            <a:ext cx="1514128" cy="1379233"/>
          </a:xfrm>
          <a:custGeom>
            <a:avLst/>
            <a:gdLst/>
            <a:ahLst/>
            <a:cxnLst/>
            <a:rect r="r" b="b" t="t" l="l"/>
            <a:pathLst>
              <a:path h="1379233" w="1514128">
                <a:moveTo>
                  <a:pt x="0" y="0"/>
                </a:moveTo>
                <a:lnTo>
                  <a:pt x="1514128" y="0"/>
                </a:lnTo>
                <a:lnTo>
                  <a:pt x="1514128" y="1379233"/>
                </a:lnTo>
                <a:lnTo>
                  <a:pt x="0" y="13792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752595" y="-301411"/>
            <a:ext cx="12710840" cy="1756407"/>
          </a:xfrm>
          <a:custGeom>
            <a:avLst/>
            <a:gdLst/>
            <a:ahLst/>
            <a:cxnLst/>
            <a:rect r="r" b="b" t="t" l="l"/>
            <a:pathLst>
              <a:path h="1756407" w="12710840">
                <a:moveTo>
                  <a:pt x="0" y="0"/>
                </a:moveTo>
                <a:lnTo>
                  <a:pt x="12710840" y="0"/>
                </a:lnTo>
                <a:lnTo>
                  <a:pt x="12710840" y="1756407"/>
                </a:lnTo>
                <a:lnTo>
                  <a:pt x="0" y="17564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0800000">
            <a:off x="-5599813" y="8633321"/>
            <a:ext cx="13959219" cy="1928910"/>
          </a:xfrm>
          <a:custGeom>
            <a:avLst/>
            <a:gdLst/>
            <a:ahLst/>
            <a:cxnLst/>
            <a:rect r="r" b="b" t="t" l="l"/>
            <a:pathLst>
              <a:path h="1928910" w="13959219">
                <a:moveTo>
                  <a:pt x="0" y="0"/>
                </a:moveTo>
                <a:lnTo>
                  <a:pt x="13959219" y="0"/>
                </a:lnTo>
                <a:lnTo>
                  <a:pt x="13959219" y="1928910"/>
                </a:lnTo>
                <a:lnTo>
                  <a:pt x="0" y="19289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7003563" y="1670129"/>
            <a:ext cx="6093483" cy="695325"/>
          </a:xfrm>
          <a:prstGeom prst="rect">
            <a:avLst/>
          </a:prstGeom>
        </p:spPr>
        <p:txBody>
          <a:bodyPr anchor="t" rtlCol="false" tIns="0" lIns="0" bIns="0" rIns="0">
            <a:spAutoFit/>
          </a:bodyPr>
          <a:lstStyle/>
          <a:p>
            <a:pPr algn="ctr">
              <a:lnSpc>
                <a:spcPts val="4950"/>
              </a:lnSpc>
            </a:pPr>
            <a:r>
              <a:rPr lang="en-US" b="true" sz="5000" spc="110">
                <a:solidFill>
                  <a:srgbClr val="000000"/>
                </a:solidFill>
                <a:latin typeface="Ahkio Bold"/>
                <a:ea typeface="Ahkio Bold"/>
                <a:cs typeface="Ahkio Bold"/>
                <a:sym typeface="Ahkio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7635515" y="3172282"/>
            <a:ext cx="10019190" cy="6568337"/>
            <a:chOff x="0" y="0"/>
            <a:chExt cx="14302208" cy="9376178"/>
          </a:xfrm>
        </p:grpSpPr>
        <p:sp>
          <p:nvSpPr>
            <p:cNvPr name="Freeform 3" id="3"/>
            <p:cNvSpPr/>
            <p:nvPr/>
          </p:nvSpPr>
          <p:spPr>
            <a:xfrm flipH="false" flipV="false" rot="0">
              <a:off x="31750" y="31750"/>
              <a:ext cx="14238708" cy="9312678"/>
            </a:xfrm>
            <a:custGeom>
              <a:avLst/>
              <a:gdLst/>
              <a:ahLst/>
              <a:cxnLst/>
              <a:rect r="r" b="b" t="t" l="l"/>
              <a:pathLst>
                <a:path h="9312678" w="14238708">
                  <a:moveTo>
                    <a:pt x="14145997" y="9312678"/>
                  </a:moveTo>
                  <a:lnTo>
                    <a:pt x="92710" y="9312678"/>
                  </a:lnTo>
                  <a:cubicBezTo>
                    <a:pt x="41910" y="9312678"/>
                    <a:pt x="0" y="9270768"/>
                    <a:pt x="0" y="9219968"/>
                  </a:cubicBezTo>
                  <a:lnTo>
                    <a:pt x="0" y="92710"/>
                  </a:lnTo>
                  <a:cubicBezTo>
                    <a:pt x="0" y="41910"/>
                    <a:pt x="41910" y="0"/>
                    <a:pt x="92710" y="0"/>
                  </a:cubicBezTo>
                  <a:lnTo>
                    <a:pt x="14144727" y="0"/>
                  </a:lnTo>
                  <a:cubicBezTo>
                    <a:pt x="14195527" y="0"/>
                    <a:pt x="14237438" y="41910"/>
                    <a:pt x="14237438" y="92710"/>
                  </a:cubicBezTo>
                  <a:lnTo>
                    <a:pt x="14237438" y="9218699"/>
                  </a:lnTo>
                  <a:cubicBezTo>
                    <a:pt x="14238708" y="9270768"/>
                    <a:pt x="14196797" y="9312678"/>
                    <a:pt x="14145997" y="9312678"/>
                  </a:cubicBezTo>
                  <a:close/>
                </a:path>
              </a:pathLst>
            </a:custGeom>
            <a:solidFill>
              <a:srgbClr val="FFFEF7"/>
            </a:solidFill>
          </p:spPr>
        </p:sp>
        <p:sp>
          <p:nvSpPr>
            <p:cNvPr name="Freeform 4" id="4"/>
            <p:cNvSpPr/>
            <p:nvPr/>
          </p:nvSpPr>
          <p:spPr>
            <a:xfrm flipH="false" flipV="false" rot="0">
              <a:off x="0" y="0"/>
              <a:ext cx="14302208" cy="9376178"/>
            </a:xfrm>
            <a:custGeom>
              <a:avLst/>
              <a:gdLst/>
              <a:ahLst/>
              <a:cxnLst/>
              <a:rect r="r" b="b" t="t" l="l"/>
              <a:pathLst>
                <a:path h="9376178" w="14302208">
                  <a:moveTo>
                    <a:pt x="14177747" y="59690"/>
                  </a:moveTo>
                  <a:cubicBezTo>
                    <a:pt x="14213308" y="59690"/>
                    <a:pt x="14242518" y="88900"/>
                    <a:pt x="14242518" y="124460"/>
                  </a:cubicBezTo>
                  <a:lnTo>
                    <a:pt x="14242518" y="9251718"/>
                  </a:lnTo>
                  <a:cubicBezTo>
                    <a:pt x="14242518" y="9287278"/>
                    <a:pt x="14213308" y="9316488"/>
                    <a:pt x="14177747" y="9316488"/>
                  </a:cubicBezTo>
                  <a:lnTo>
                    <a:pt x="124460" y="9316488"/>
                  </a:lnTo>
                  <a:cubicBezTo>
                    <a:pt x="88900" y="9316488"/>
                    <a:pt x="59690" y="9287278"/>
                    <a:pt x="59690" y="9251718"/>
                  </a:cubicBezTo>
                  <a:lnTo>
                    <a:pt x="59690" y="124460"/>
                  </a:lnTo>
                  <a:cubicBezTo>
                    <a:pt x="59690" y="88900"/>
                    <a:pt x="88900" y="59690"/>
                    <a:pt x="124460" y="59690"/>
                  </a:cubicBezTo>
                  <a:lnTo>
                    <a:pt x="14177749" y="59690"/>
                  </a:lnTo>
                  <a:moveTo>
                    <a:pt x="14177749" y="0"/>
                  </a:moveTo>
                  <a:lnTo>
                    <a:pt x="124460" y="0"/>
                  </a:lnTo>
                  <a:cubicBezTo>
                    <a:pt x="55880" y="0"/>
                    <a:pt x="0" y="55880"/>
                    <a:pt x="0" y="124460"/>
                  </a:cubicBezTo>
                  <a:lnTo>
                    <a:pt x="0" y="9251718"/>
                  </a:lnTo>
                  <a:cubicBezTo>
                    <a:pt x="0" y="9320299"/>
                    <a:pt x="55880" y="9376178"/>
                    <a:pt x="124460" y="9376178"/>
                  </a:cubicBezTo>
                  <a:lnTo>
                    <a:pt x="14177749" y="9376178"/>
                  </a:lnTo>
                  <a:cubicBezTo>
                    <a:pt x="14246327" y="9376178"/>
                    <a:pt x="14302208" y="9320299"/>
                    <a:pt x="14302208" y="9251718"/>
                  </a:cubicBezTo>
                  <a:lnTo>
                    <a:pt x="14302208" y="124460"/>
                  </a:lnTo>
                  <a:cubicBezTo>
                    <a:pt x="14302208" y="55880"/>
                    <a:pt x="14246327" y="0"/>
                    <a:pt x="14177749" y="0"/>
                  </a:cubicBezTo>
                  <a:close/>
                </a:path>
              </a:pathLst>
            </a:custGeom>
            <a:solidFill>
              <a:srgbClr val="191919"/>
            </a:solidFill>
          </p:spPr>
        </p:sp>
      </p:grpSp>
      <p:grpSp>
        <p:nvGrpSpPr>
          <p:cNvPr name="Group 5" id="5"/>
          <p:cNvGrpSpPr/>
          <p:nvPr/>
        </p:nvGrpSpPr>
        <p:grpSpPr>
          <a:xfrm rot="0">
            <a:off x="150726" y="3172282"/>
            <a:ext cx="7340259" cy="6568337"/>
            <a:chOff x="0" y="0"/>
            <a:chExt cx="7096263" cy="6350000"/>
          </a:xfrm>
        </p:grpSpPr>
        <p:sp>
          <p:nvSpPr>
            <p:cNvPr name="Freeform 6" id="6"/>
            <p:cNvSpPr/>
            <p:nvPr/>
          </p:nvSpPr>
          <p:spPr>
            <a:xfrm flipH="false" flipV="false" rot="0">
              <a:off x="0" y="0"/>
              <a:ext cx="7096264" cy="6350000"/>
            </a:xfrm>
            <a:custGeom>
              <a:avLst/>
              <a:gdLst/>
              <a:ahLst/>
              <a:cxnLst/>
              <a:rect r="r" b="b" t="t" l="l"/>
              <a:pathLst>
                <a:path h="6350000" w="7096264">
                  <a:moveTo>
                    <a:pt x="206001" y="0"/>
                  </a:moveTo>
                  <a:lnTo>
                    <a:pt x="6890263" y="0"/>
                  </a:lnTo>
                  <a:cubicBezTo>
                    <a:pt x="7004034" y="0"/>
                    <a:pt x="7096264" y="92230"/>
                    <a:pt x="7096264" y="206001"/>
                  </a:cubicBezTo>
                  <a:lnTo>
                    <a:pt x="7096264" y="6143999"/>
                  </a:lnTo>
                  <a:cubicBezTo>
                    <a:pt x="7096264" y="6198634"/>
                    <a:pt x="7074560" y="6251031"/>
                    <a:pt x="7035927" y="6289664"/>
                  </a:cubicBezTo>
                  <a:cubicBezTo>
                    <a:pt x="6997295" y="6328296"/>
                    <a:pt x="6944898" y="6350000"/>
                    <a:pt x="6890263" y="6350000"/>
                  </a:cubicBezTo>
                  <a:lnTo>
                    <a:pt x="206001" y="6350000"/>
                  </a:lnTo>
                  <a:cubicBezTo>
                    <a:pt x="92230" y="6350000"/>
                    <a:pt x="0" y="6257770"/>
                    <a:pt x="0" y="6143999"/>
                  </a:cubicBezTo>
                  <a:lnTo>
                    <a:pt x="0" y="206001"/>
                  </a:lnTo>
                  <a:cubicBezTo>
                    <a:pt x="0" y="92230"/>
                    <a:pt x="92230" y="0"/>
                    <a:pt x="206001" y="0"/>
                  </a:cubicBezTo>
                  <a:close/>
                </a:path>
              </a:pathLst>
            </a:custGeom>
            <a:blipFill>
              <a:blip r:embed="rId2"/>
              <a:stretch>
                <a:fillRect l="-6831" t="0" r="-13004" b="-5430"/>
              </a:stretch>
            </a:blipFill>
            <a:ln w="66675" cap="rnd">
              <a:solidFill>
                <a:srgbClr val="FBC046"/>
              </a:solidFill>
              <a:prstDash val="solid"/>
              <a:round/>
            </a:ln>
          </p:spPr>
        </p:sp>
      </p:grpSp>
      <p:grpSp>
        <p:nvGrpSpPr>
          <p:cNvPr name="Group 7" id="7"/>
          <p:cNvGrpSpPr/>
          <p:nvPr/>
        </p:nvGrpSpPr>
        <p:grpSpPr>
          <a:xfrm rot="0">
            <a:off x="2090145" y="504932"/>
            <a:ext cx="14390544" cy="2012156"/>
            <a:chOff x="0" y="0"/>
            <a:chExt cx="3790061" cy="529971"/>
          </a:xfrm>
        </p:grpSpPr>
        <p:sp>
          <p:nvSpPr>
            <p:cNvPr name="Freeform 8" id="8"/>
            <p:cNvSpPr/>
            <p:nvPr/>
          </p:nvSpPr>
          <p:spPr>
            <a:xfrm flipH="false" flipV="false" rot="0">
              <a:off x="0" y="0"/>
              <a:ext cx="3790061" cy="529971"/>
            </a:xfrm>
            <a:custGeom>
              <a:avLst/>
              <a:gdLst/>
              <a:ahLst/>
              <a:cxnLst/>
              <a:rect r="r" b="b" t="t" l="l"/>
              <a:pathLst>
                <a:path h="529971" w="3790061">
                  <a:moveTo>
                    <a:pt x="3790061" y="8608"/>
                  </a:moveTo>
                  <a:lnTo>
                    <a:pt x="3790061" y="521363"/>
                  </a:lnTo>
                  <a:cubicBezTo>
                    <a:pt x="3790061" y="523646"/>
                    <a:pt x="3789154" y="525836"/>
                    <a:pt x="3787540" y="527450"/>
                  </a:cubicBezTo>
                  <a:cubicBezTo>
                    <a:pt x="3785926" y="529064"/>
                    <a:pt x="3783736" y="529971"/>
                    <a:pt x="3781453" y="529971"/>
                  </a:cubicBezTo>
                  <a:lnTo>
                    <a:pt x="8608" y="529971"/>
                  </a:lnTo>
                  <a:cubicBezTo>
                    <a:pt x="6325" y="529971"/>
                    <a:pt x="4135" y="529064"/>
                    <a:pt x="2521" y="527450"/>
                  </a:cubicBezTo>
                  <a:cubicBezTo>
                    <a:pt x="907" y="525836"/>
                    <a:pt x="0" y="523646"/>
                    <a:pt x="0" y="521363"/>
                  </a:cubicBezTo>
                  <a:lnTo>
                    <a:pt x="0" y="8608"/>
                  </a:lnTo>
                  <a:cubicBezTo>
                    <a:pt x="0" y="6325"/>
                    <a:pt x="907" y="4135"/>
                    <a:pt x="2521" y="2521"/>
                  </a:cubicBezTo>
                  <a:cubicBezTo>
                    <a:pt x="4135" y="907"/>
                    <a:pt x="6325" y="0"/>
                    <a:pt x="8608" y="0"/>
                  </a:cubicBezTo>
                  <a:lnTo>
                    <a:pt x="3781453" y="0"/>
                  </a:lnTo>
                  <a:cubicBezTo>
                    <a:pt x="3783736" y="0"/>
                    <a:pt x="3785926" y="907"/>
                    <a:pt x="3787540" y="2521"/>
                  </a:cubicBezTo>
                  <a:cubicBezTo>
                    <a:pt x="3789154" y="4135"/>
                    <a:pt x="3790061" y="6325"/>
                    <a:pt x="3790061" y="8608"/>
                  </a:cubicBezTo>
                  <a:close/>
                </a:path>
              </a:pathLst>
            </a:custGeom>
            <a:solidFill>
              <a:srgbClr val="A4B9FB"/>
            </a:solidFill>
          </p:spPr>
        </p:sp>
        <p:sp>
          <p:nvSpPr>
            <p:cNvPr name="TextBox 9" id="9"/>
            <p:cNvSpPr txBox="true"/>
            <p:nvPr/>
          </p:nvSpPr>
          <p:spPr>
            <a:xfrm>
              <a:off x="0" y="-38100"/>
              <a:ext cx="3790061" cy="568071"/>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335310" y="895350"/>
            <a:ext cx="11617379" cy="8921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Ahkio Bold"/>
                <a:ea typeface="Ahkio Bold"/>
                <a:cs typeface="Ahkio Bold"/>
                <a:sym typeface="Ahkio Bold"/>
              </a:rPr>
              <a:t>SATELLITE + IOT LEAK DETECTION APP</a:t>
            </a:r>
          </a:p>
        </p:txBody>
      </p:sp>
      <p:sp>
        <p:nvSpPr>
          <p:cNvPr name="TextBox 11" id="11"/>
          <p:cNvSpPr txBox="true"/>
          <p:nvPr/>
        </p:nvSpPr>
        <p:spPr>
          <a:xfrm rot="0">
            <a:off x="7902305" y="3678555"/>
            <a:ext cx="9485610" cy="5579745"/>
          </a:xfrm>
          <a:prstGeom prst="rect">
            <a:avLst/>
          </a:prstGeom>
        </p:spPr>
        <p:txBody>
          <a:bodyPr anchor="t" rtlCol="false" tIns="0" lIns="0" bIns="0" rIns="0">
            <a:spAutoFit/>
          </a:bodyPr>
          <a:lstStyle/>
          <a:p>
            <a:pPr algn="l">
              <a:lnSpc>
                <a:spcPts val="3990"/>
              </a:lnSpc>
            </a:pPr>
            <a:r>
              <a:rPr lang="en-US" sz="3500">
                <a:solidFill>
                  <a:srgbClr val="000000"/>
                </a:solidFill>
                <a:latin typeface="Ahkio"/>
                <a:ea typeface="Ahkio"/>
                <a:cs typeface="Ahkio"/>
                <a:sym typeface="Ahkio"/>
              </a:rPr>
              <a:t>Our system combines satellite imagery and IoT sensors to detect water pipeline leaks more effectively. Satellites like SAR, thermal, and multispectral provide a broad view of pipeline conditions, while IoT sensors give real-time, ground-level data such as pressure, flow, and sound changes. Using machine learning, the system analyzes this data to spot and prioritize leaks. A GIS map shows the pipelines, past maintenance, and detected leaks. Finally, a real-time dashboard alerts utility teams and helps them quickly send field workers to repair leaks, reducing water loss and saving costs.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407458">
            <a:off x="-1820018" y="-3097388"/>
            <a:ext cx="11886159" cy="14891543"/>
          </a:xfrm>
          <a:custGeom>
            <a:avLst/>
            <a:gdLst/>
            <a:ahLst/>
            <a:cxnLst/>
            <a:rect r="r" b="b" t="t" l="l"/>
            <a:pathLst>
              <a:path h="14891543" w="11886159">
                <a:moveTo>
                  <a:pt x="0" y="0"/>
                </a:moveTo>
                <a:lnTo>
                  <a:pt x="11886159" y="0"/>
                </a:lnTo>
                <a:lnTo>
                  <a:pt x="11886159" y="14891543"/>
                </a:lnTo>
                <a:lnTo>
                  <a:pt x="0" y="148915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60391" y="1242183"/>
            <a:ext cx="10498909" cy="7657600"/>
            <a:chOff x="0" y="0"/>
            <a:chExt cx="14302208" cy="10431615"/>
          </a:xfrm>
        </p:grpSpPr>
        <p:sp>
          <p:nvSpPr>
            <p:cNvPr name="Freeform 4" id="4"/>
            <p:cNvSpPr/>
            <p:nvPr/>
          </p:nvSpPr>
          <p:spPr>
            <a:xfrm flipH="false" flipV="false" rot="0">
              <a:off x="31750" y="31750"/>
              <a:ext cx="14238708" cy="10368115"/>
            </a:xfrm>
            <a:custGeom>
              <a:avLst/>
              <a:gdLst/>
              <a:ahLst/>
              <a:cxnLst/>
              <a:rect r="r" b="b" t="t" l="l"/>
              <a:pathLst>
                <a:path h="10368115" w="14238708">
                  <a:moveTo>
                    <a:pt x="14145997" y="10368115"/>
                  </a:moveTo>
                  <a:lnTo>
                    <a:pt x="92710" y="10368115"/>
                  </a:lnTo>
                  <a:cubicBezTo>
                    <a:pt x="41910" y="10368115"/>
                    <a:pt x="0" y="10326205"/>
                    <a:pt x="0" y="10275405"/>
                  </a:cubicBezTo>
                  <a:lnTo>
                    <a:pt x="0" y="92710"/>
                  </a:lnTo>
                  <a:cubicBezTo>
                    <a:pt x="0" y="41910"/>
                    <a:pt x="41910" y="0"/>
                    <a:pt x="92710" y="0"/>
                  </a:cubicBezTo>
                  <a:lnTo>
                    <a:pt x="14144727" y="0"/>
                  </a:lnTo>
                  <a:cubicBezTo>
                    <a:pt x="14195527" y="0"/>
                    <a:pt x="14237438" y="41910"/>
                    <a:pt x="14237438" y="92710"/>
                  </a:cubicBezTo>
                  <a:lnTo>
                    <a:pt x="14237438" y="10274136"/>
                  </a:lnTo>
                  <a:cubicBezTo>
                    <a:pt x="14238708" y="10326205"/>
                    <a:pt x="14196797" y="10368115"/>
                    <a:pt x="14145997" y="10368115"/>
                  </a:cubicBezTo>
                  <a:close/>
                </a:path>
              </a:pathLst>
            </a:custGeom>
            <a:solidFill>
              <a:srgbClr val="FFFEF7"/>
            </a:solidFill>
          </p:spPr>
        </p:sp>
        <p:sp>
          <p:nvSpPr>
            <p:cNvPr name="Freeform 5" id="5"/>
            <p:cNvSpPr/>
            <p:nvPr/>
          </p:nvSpPr>
          <p:spPr>
            <a:xfrm flipH="false" flipV="false" rot="0">
              <a:off x="0" y="0"/>
              <a:ext cx="14302208" cy="10431616"/>
            </a:xfrm>
            <a:custGeom>
              <a:avLst/>
              <a:gdLst/>
              <a:ahLst/>
              <a:cxnLst/>
              <a:rect r="r" b="b" t="t" l="l"/>
              <a:pathLst>
                <a:path h="10431616" w="14302208">
                  <a:moveTo>
                    <a:pt x="14177747" y="59690"/>
                  </a:moveTo>
                  <a:cubicBezTo>
                    <a:pt x="14213308" y="59690"/>
                    <a:pt x="14242518" y="88900"/>
                    <a:pt x="14242518" y="124460"/>
                  </a:cubicBezTo>
                  <a:lnTo>
                    <a:pt x="14242518" y="10307155"/>
                  </a:lnTo>
                  <a:cubicBezTo>
                    <a:pt x="14242518" y="10342716"/>
                    <a:pt x="14213308" y="10371926"/>
                    <a:pt x="14177747" y="10371926"/>
                  </a:cubicBezTo>
                  <a:lnTo>
                    <a:pt x="124460" y="10371926"/>
                  </a:lnTo>
                  <a:cubicBezTo>
                    <a:pt x="88900" y="10371926"/>
                    <a:pt x="59690" y="10342716"/>
                    <a:pt x="59690" y="10307155"/>
                  </a:cubicBezTo>
                  <a:lnTo>
                    <a:pt x="59690" y="124460"/>
                  </a:lnTo>
                  <a:cubicBezTo>
                    <a:pt x="59690" y="88900"/>
                    <a:pt x="88900" y="59690"/>
                    <a:pt x="124460" y="59690"/>
                  </a:cubicBezTo>
                  <a:lnTo>
                    <a:pt x="14177749" y="59690"/>
                  </a:lnTo>
                  <a:moveTo>
                    <a:pt x="14177749" y="0"/>
                  </a:moveTo>
                  <a:lnTo>
                    <a:pt x="124460" y="0"/>
                  </a:lnTo>
                  <a:cubicBezTo>
                    <a:pt x="55880" y="0"/>
                    <a:pt x="0" y="55880"/>
                    <a:pt x="0" y="124460"/>
                  </a:cubicBezTo>
                  <a:lnTo>
                    <a:pt x="0" y="10307155"/>
                  </a:lnTo>
                  <a:cubicBezTo>
                    <a:pt x="0" y="10375736"/>
                    <a:pt x="55880" y="10431616"/>
                    <a:pt x="124460" y="10431616"/>
                  </a:cubicBezTo>
                  <a:lnTo>
                    <a:pt x="14177749" y="10431616"/>
                  </a:lnTo>
                  <a:cubicBezTo>
                    <a:pt x="14246327" y="10431616"/>
                    <a:pt x="14302208" y="10375736"/>
                    <a:pt x="14302208" y="10307155"/>
                  </a:cubicBezTo>
                  <a:lnTo>
                    <a:pt x="14302208" y="124460"/>
                  </a:lnTo>
                  <a:cubicBezTo>
                    <a:pt x="14302208" y="55880"/>
                    <a:pt x="14246327" y="0"/>
                    <a:pt x="14177749" y="0"/>
                  </a:cubicBezTo>
                  <a:close/>
                </a:path>
              </a:pathLst>
            </a:custGeom>
            <a:solidFill>
              <a:srgbClr val="191919"/>
            </a:solidFill>
          </p:spPr>
        </p:sp>
      </p:grpSp>
      <p:grpSp>
        <p:nvGrpSpPr>
          <p:cNvPr name="Group 6" id="6"/>
          <p:cNvGrpSpPr/>
          <p:nvPr/>
        </p:nvGrpSpPr>
        <p:grpSpPr>
          <a:xfrm rot="0">
            <a:off x="492301" y="4608949"/>
            <a:ext cx="7028317" cy="4649351"/>
            <a:chOff x="0" y="0"/>
            <a:chExt cx="9599149" cy="6350000"/>
          </a:xfrm>
        </p:grpSpPr>
        <p:sp>
          <p:nvSpPr>
            <p:cNvPr name="Freeform 7" id="7"/>
            <p:cNvSpPr/>
            <p:nvPr/>
          </p:nvSpPr>
          <p:spPr>
            <a:xfrm flipH="false" flipV="false" rot="0">
              <a:off x="0" y="0"/>
              <a:ext cx="9599149" cy="6350000"/>
            </a:xfrm>
            <a:custGeom>
              <a:avLst/>
              <a:gdLst/>
              <a:ahLst/>
              <a:cxnLst/>
              <a:rect r="r" b="b" t="t" l="l"/>
              <a:pathLst>
                <a:path h="6350000" w="9599149">
                  <a:moveTo>
                    <a:pt x="0" y="0"/>
                  </a:moveTo>
                  <a:lnTo>
                    <a:pt x="9599149" y="0"/>
                  </a:lnTo>
                  <a:lnTo>
                    <a:pt x="9599149" y="6350000"/>
                  </a:lnTo>
                  <a:lnTo>
                    <a:pt x="0" y="6350000"/>
                  </a:lnTo>
                  <a:close/>
                </a:path>
              </a:pathLst>
            </a:custGeom>
            <a:blipFill>
              <a:blip r:embed="rId4"/>
              <a:stretch>
                <a:fillRect l="-1389" t="0" r="-1389" b="0"/>
              </a:stretch>
            </a:blipFill>
          </p:spPr>
        </p:sp>
      </p:grpSp>
      <p:sp>
        <p:nvSpPr>
          <p:cNvPr name="TextBox 8" id="8"/>
          <p:cNvSpPr txBox="true"/>
          <p:nvPr/>
        </p:nvSpPr>
        <p:spPr>
          <a:xfrm rot="0">
            <a:off x="12388576" y="1761080"/>
            <a:ext cx="4194128" cy="507366"/>
          </a:xfrm>
          <a:prstGeom prst="rect">
            <a:avLst/>
          </a:prstGeom>
        </p:spPr>
        <p:txBody>
          <a:bodyPr anchor="t" rtlCol="false" tIns="0" lIns="0" bIns="0" rIns="0">
            <a:spAutoFit/>
          </a:bodyPr>
          <a:lstStyle/>
          <a:p>
            <a:pPr algn="l" marL="626102" indent="-313051" lvl="1">
              <a:lnSpc>
                <a:spcPts val="4059"/>
              </a:lnSpc>
              <a:buFont typeface="Arial"/>
              <a:buChar char="•"/>
            </a:pPr>
            <a:r>
              <a:rPr lang="en-US" sz="2899">
                <a:solidFill>
                  <a:srgbClr val="000000"/>
                </a:solidFill>
                <a:latin typeface="Ahkio"/>
                <a:ea typeface="Ahkio"/>
                <a:cs typeface="Ahkio"/>
                <a:sym typeface="Ahkio"/>
              </a:rPr>
              <a:t>IOT SENSORS</a:t>
            </a:r>
          </a:p>
        </p:txBody>
      </p:sp>
      <p:sp>
        <p:nvSpPr>
          <p:cNvPr name="TextBox 9" id="9"/>
          <p:cNvSpPr txBox="true"/>
          <p:nvPr/>
        </p:nvSpPr>
        <p:spPr>
          <a:xfrm rot="0">
            <a:off x="12736636" y="2432912"/>
            <a:ext cx="3846068" cy="2620137"/>
          </a:xfrm>
          <a:prstGeom prst="rect">
            <a:avLst/>
          </a:prstGeom>
        </p:spPr>
        <p:txBody>
          <a:bodyPr anchor="t" rtlCol="false" tIns="0" lIns="0" bIns="0" rIns="0">
            <a:spAutoFit/>
          </a:bodyPr>
          <a:lstStyle/>
          <a:p>
            <a:pPr algn="l" marL="561334" indent="-280667" lvl="1">
              <a:lnSpc>
                <a:spcPts val="2963"/>
              </a:lnSpc>
              <a:buFont typeface="Arial"/>
              <a:buChar char="•"/>
            </a:pPr>
            <a:r>
              <a:rPr lang="en-US" sz="2599">
                <a:solidFill>
                  <a:srgbClr val="000000"/>
                </a:solidFill>
                <a:latin typeface="Ahkio"/>
                <a:ea typeface="Ahkio"/>
                <a:cs typeface="Ahkio"/>
                <a:sym typeface="Ahkio"/>
              </a:rPr>
              <a:t>Pressure: Detects pressure drops signaling leaks.</a:t>
            </a:r>
          </a:p>
          <a:p>
            <a:pPr algn="l" marL="561334" indent="-280667" lvl="1">
              <a:lnSpc>
                <a:spcPts val="2963"/>
              </a:lnSpc>
              <a:buFont typeface="Arial"/>
              <a:buChar char="•"/>
            </a:pPr>
            <a:r>
              <a:rPr lang="en-US" sz="2599">
                <a:solidFill>
                  <a:srgbClr val="000000"/>
                </a:solidFill>
                <a:latin typeface="Ahkio"/>
                <a:ea typeface="Ahkio"/>
                <a:cs typeface="Ahkio"/>
                <a:sym typeface="Ahkio"/>
              </a:rPr>
              <a:t>Flow: Tracks water flow discrepancies.</a:t>
            </a:r>
          </a:p>
          <a:p>
            <a:pPr algn="l" marL="561334" indent="-280667" lvl="1">
              <a:lnSpc>
                <a:spcPts val="2963"/>
              </a:lnSpc>
              <a:buFont typeface="Arial"/>
              <a:buChar char="•"/>
            </a:pPr>
            <a:r>
              <a:rPr lang="en-US" sz="2599">
                <a:solidFill>
                  <a:srgbClr val="000000"/>
                </a:solidFill>
                <a:latin typeface="Ahkio"/>
                <a:ea typeface="Ahkio"/>
                <a:cs typeface="Ahkio"/>
                <a:sym typeface="Ahkio"/>
              </a:rPr>
              <a:t>Acoustic: Pinpoints leaks using sound patterns.</a:t>
            </a:r>
          </a:p>
          <a:p>
            <a:pPr algn="l">
              <a:lnSpc>
                <a:spcPts val="2963"/>
              </a:lnSpc>
            </a:pPr>
          </a:p>
        </p:txBody>
      </p:sp>
      <p:sp>
        <p:nvSpPr>
          <p:cNvPr name="TextBox 10" id="10"/>
          <p:cNvSpPr txBox="true"/>
          <p:nvPr/>
        </p:nvSpPr>
        <p:spPr>
          <a:xfrm rot="0">
            <a:off x="774117" y="265586"/>
            <a:ext cx="7025537" cy="892175"/>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Ahkio"/>
                <a:ea typeface="Ahkio"/>
                <a:cs typeface="Ahkio"/>
                <a:sym typeface="Ahkio"/>
              </a:rPr>
              <a:t>CORE SYSTEM FEATURES</a:t>
            </a:r>
          </a:p>
        </p:txBody>
      </p:sp>
      <p:sp>
        <p:nvSpPr>
          <p:cNvPr name="TextBox 11" id="11"/>
          <p:cNvSpPr txBox="true"/>
          <p:nvPr/>
        </p:nvSpPr>
        <p:spPr>
          <a:xfrm rot="0">
            <a:off x="7380878" y="1761080"/>
            <a:ext cx="4194128" cy="514351"/>
          </a:xfrm>
          <a:prstGeom prst="rect">
            <a:avLst/>
          </a:prstGeom>
        </p:spPr>
        <p:txBody>
          <a:bodyPr anchor="t" rtlCol="false" tIns="0" lIns="0" bIns="0" rIns="0">
            <a:spAutoFit/>
          </a:bodyPr>
          <a:lstStyle/>
          <a:p>
            <a:pPr algn="l" marL="647692" indent="-323846" lvl="1">
              <a:lnSpc>
                <a:spcPts val="4199"/>
              </a:lnSpc>
              <a:buFont typeface="Arial"/>
              <a:buChar char="•"/>
            </a:pPr>
            <a:r>
              <a:rPr lang="en-US" b="true" sz="2999">
                <a:solidFill>
                  <a:srgbClr val="000000"/>
                </a:solidFill>
                <a:latin typeface="Ahkio Bold"/>
                <a:ea typeface="Ahkio Bold"/>
                <a:cs typeface="Ahkio Bold"/>
                <a:sym typeface="Ahkio Bold"/>
              </a:rPr>
              <a:t>SATELLITE DATA</a:t>
            </a:r>
          </a:p>
        </p:txBody>
      </p:sp>
      <p:sp>
        <p:nvSpPr>
          <p:cNvPr name="TextBox 12" id="12"/>
          <p:cNvSpPr txBox="true"/>
          <p:nvPr/>
        </p:nvSpPr>
        <p:spPr>
          <a:xfrm rot="0">
            <a:off x="7534416" y="5728701"/>
            <a:ext cx="4194128" cy="507366"/>
          </a:xfrm>
          <a:prstGeom prst="rect">
            <a:avLst/>
          </a:prstGeom>
        </p:spPr>
        <p:txBody>
          <a:bodyPr anchor="t" rtlCol="false" tIns="0" lIns="0" bIns="0" rIns="0">
            <a:spAutoFit/>
          </a:bodyPr>
          <a:lstStyle/>
          <a:p>
            <a:pPr algn="l" marL="626102" indent="-313051" lvl="1">
              <a:lnSpc>
                <a:spcPts val="4059"/>
              </a:lnSpc>
              <a:buFont typeface="Arial"/>
              <a:buChar char="•"/>
            </a:pPr>
            <a:r>
              <a:rPr lang="en-US" sz="2899">
                <a:solidFill>
                  <a:srgbClr val="000000"/>
                </a:solidFill>
                <a:latin typeface="Ahkio"/>
                <a:ea typeface="Ahkio"/>
                <a:cs typeface="Ahkio"/>
                <a:sym typeface="Ahkio"/>
              </a:rPr>
              <a:t>ML ANALYTICS</a:t>
            </a:r>
          </a:p>
        </p:txBody>
      </p:sp>
      <p:sp>
        <p:nvSpPr>
          <p:cNvPr name="TextBox 13" id="13"/>
          <p:cNvSpPr txBox="true"/>
          <p:nvPr/>
        </p:nvSpPr>
        <p:spPr>
          <a:xfrm rot="0">
            <a:off x="12562606" y="5728701"/>
            <a:ext cx="4194128" cy="507366"/>
          </a:xfrm>
          <a:prstGeom prst="rect">
            <a:avLst/>
          </a:prstGeom>
        </p:spPr>
        <p:txBody>
          <a:bodyPr anchor="t" rtlCol="false" tIns="0" lIns="0" bIns="0" rIns="0">
            <a:spAutoFit/>
          </a:bodyPr>
          <a:lstStyle/>
          <a:p>
            <a:pPr algn="l" marL="626102" indent="-313051" lvl="1">
              <a:lnSpc>
                <a:spcPts val="4059"/>
              </a:lnSpc>
              <a:buFont typeface="Arial"/>
              <a:buChar char="•"/>
            </a:pPr>
            <a:r>
              <a:rPr lang="en-US" sz="2899">
                <a:solidFill>
                  <a:srgbClr val="000000"/>
                </a:solidFill>
                <a:latin typeface="Ahkio"/>
                <a:ea typeface="Ahkio"/>
                <a:cs typeface="Ahkio"/>
                <a:sym typeface="Ahkio"/>
              </a:rPr>
              <a:t>GIS MAPPING</a:t>
            </a:r>
          </a:p>
        </p:txBody>
      </p:sp>
      <p:sp>
        <p:nvSpPr>
          <p:cNvPr name="TextBox 14" id="14"/>
          <p:cNvSpPr txBox="true"/>
          <p:nvPr/>
        </p:nvSpPr>
        <p:spPr>
          <a:xfrm rot="0">
            <a:off x="7799654" y="2373037"/>
            <a:ext cx="3928891" cy="3363087"/>
          </a:xfrm>
          <a:prstGeom prst="rect">
            <a:avLst/>
          </a:prstGeom>
        </p:spPr>
        <p:txBody>
          <a:bodyPr anchor="t" rtlCol="false" tIns="0" lIns="0" bIns="0" rIns="0">
            <a:spAutoFit/>
          </a:bodyPr>
          <a:lstStyle/>
          <a:p>
            <a:pPr algn="l" marL="561334" indent="-280667" lvl="1">
              <a:lnSpc>
                <a:spcPts val="2963"/>
              </a:lnSpc>
              <a:buFont typeface="Arial"/>
              <a:buChar char="•"/>
            </a:pPr>
            <a:r>
              <a:rPr lang="en-US" sz="2599">
                <a:solidFill>
                  <a:srgbClr val="000000"/>
                </a:solidFill>
                <a:latin typeface="Ahkio"/>
                <a:ea typeface="Ahkio"/>
                <a:cs typeface="Ahkio"/>
                <a:sym typeface="Ahkio"/>
              </a:rPr>
              <a:t>SAR: Detects soil moisture changes near pipelines.</a:t>
            </a:r>
          </a:p>
          <a:p>
            <a:pPr algn="l" marL="561334" indent="-280667" lvl="1">
              <a:lnSpc>
                <a:spcPts val="2963"/>
              </a:lnSpc>
              <a:buFont typeface="Arial"/>
              <a:buChar char="•"/>
            </a:pPr>
            <a:r>
              <a:rPr lang="en-US" sz="2599">
                <a:solidFill>
                  <a:srgbClr val="000000"/>
                </a:solidFill>
                <a:latin typeface="Ahkio"/>
                <a:ea typeface="Ahkio"/>
                <a:cs typeface="Ahkio"/>
                <a:sym typeface="Ahkio"/>
              </a:rPr>
              <a:t>Thermal: Identifies temperature anomalies from leaks.</a:t>
            </a:r>
          </a:p>
          <a:p>
            <a:pPr algn="l" marL="561334" indent="-280667" lvl="1">
              <a:lnSpc>
                <a:spcPts val="2963"/>
              </a:lnSpc>
              <a:buFont typeface="Arial"/>
              <a:buChar char="•"/>
            </a:pPr>
            <a:r>
              <a:rPr lang="en-US" sz="2599">
                <a:solidFill>
                  <a:srgbClr val="000000"/>
                </a:solidFill>
                <a:latin typeface="Ahkio"/>
                <a:ea typeface="Ahkio"/>
                <a:cs typeface="Ahkio"/>
                <a:sym typeface="Ahkio"/>
              </a:rPr>
              <a:t>NDVI: Monitors vegetation health affected by water leaks.</a:t>
            </a:r>
          </a:p>
          <a:p>
            <a:pPr algn="l">
              <a:lnSpc>
                <a:spcPts val="2963"/>
              </a:lnSpc>
            </a:pPr>
          </a:p>
        </p:txBody>
      </p:sp>
      <p:sp>
        <p:nvSpPr>
          <p:cNvPr name="TextBox 15" id="15"/>
          <p:cNvSpPr txBox="true"/>
          <p:nvPr/>
        </p:nvSpPr>
        <p:spPr>
          <a:xfrm rot="0">
            <a:off x="7799654" y="6455504"/>
            <a:ext cx="3928891" cy="2248662"/>
          </a:xfrm>
          <a:prstGeom prst="rect">
            <a:avLst/>
          </a:prstGeom>
        </p:spPr>
        <p:txBody>
          <a:bodyPr anchor="t" rtlCol="false" tIns="0" lIns="0" bIns="0" rIns="0">
            <a:spAutoFit/>
          </a:bodyPr>
          <a:lstStyle/>
          <a:p>
            <a:pPr algn="l" marL="561334" indent="-280667" lvl="1">
              <a:lnSpc>
                <a:spcPts val="2963"/>
              </a:lnSpc>
              <a:buFont typeface="Arial"/>
              <a:buChar char="•"/>
            </a:pPr>
            <a:r>
              <a:rPr lang="en-US" sz="2599">
                <a:solidFill>
                  <a:srgbClr val="000000"/>
                </a:solidFill>
                <a:latin typeface="Ahkio"/>
                <a:ea typeface="Ahkio"/>
                <a:cs typeface="Ahkio"/>
                <a:sym typeface="Ahkio"/>
              </a:rPr>
              <a:t>AI algorithms analyze combined satellite + IoT data.</a:t>
            </a:r>
          </a:p>
          <a:p>
            <a:pPr algn="l" marL="561334" indent="-280667" lvl="1">
              <a:lnSpc>
                <a:spcPts val="2963"/>
              </a:lnSpc>
              <a:buFont typeface="Arial"/>
              <a:buChar char="•"/>
            </a:pPr>
            <a:r>
              <a:rPr lang="en-US" sz="2599">
                <a:solidFill>
                  <a:srgbClr val="000000"/>
                </a:solidFill>
                <a:latin typeface="Ahkio"/>
                <a:ea typeface="Ahkio"/>
                <a:cs typeface="Ahkio"/>
                <a:sym typeface="Ahkio"/>
              </a:rPr>
              <a:t>Improves accuracy &amp; reliability of leak detection.</a:t>
            </a:r>
          </a:p>
          <a:p>
            <a:pPr algn="l">
              <a:lnSpc>
                <a:spcPts val="2963"/>
              </a:lnSpc>
            </a:pPr>
          </a:p>
        </p:txBody>
      </p:sp>
      <p:sp>
        <p:nvSpPr>
          <p:cNvPr name="TextBox 16" id="16"/>
          <p:cNvSpPr txBox="true"/>
          <p:nvPr/>
        </p:nvSpPr>
        <p:spPr>
          <a:xfrm rot="0">
            <a:off x="12736636" y="6434822"/>
            <a:ext cx="3846068" cy="2248662"/>
          </a:xfrm>
          <a:prstGeom prst="rect">
            <a:avLst/>
          </a:prstGeom>
        </p:spPr>
        <p:txBody>
          <a:bodyPr anchor="t" rtlCol="false" tIns="0" lIns="0" bIns="0" rIns="0">
            <a:spAutoFit/>
          </a:bodyPr>
          <a:lstStyle/>
          <a:p>
            <a:pPr algn="l" marL="561334" indent="-280667" lvl="1">
              <a:lnSpc>
                <a:spcPts val="2963"/>
              </a:lnSpc>
              <a:buFont typeface="Arial"/>
              <a:buChar char="•"/>
            </a:pPr>
            <a:r>
              <a:rPr lang="en-US" sz="2599">
                <a:solidFill>
                  <a:srgbClr val="000000"/>
                </a:solidFill>
                <a:latin typeface="Ahkio"/>
                <a:ea typeface="Ahkio"/>
                <a:cs typeface="Ahkio"/>
                <a:sym typeface="Ahkio"/>
              </a:rPr>
              <a:t>Shows pipeline routes, maintenance history, and leak locations.</a:t>
            </a:r>
          </a:p>
          <a:p>
            <a:pPr algn="l" marL="561334" indent="-280667" lvl="1">
              <a:lnSpc>
                <a:spcPts val="2963"/>
              </a:lnSpc>
              <a:buFont typeface="Arial"/>
              <a:buChar char="•"/>
            </a:pPr>
            <a:r>
              <a:rPr lang="en-US" sz="2599">
                <a:solidFill>
                  <a:srgbClr val="000000"/>
                </a:solidFill>
                <a:latin typeface="Ahkio"/>
                <a:ea typeface="Ahkio"/>
                <a:cs typeface="Ahkio"/>
                <a:sym typeface="Ahkio"/>
              </a:rPr>
              <a:t>Helps utilities plan efficient repairs.</a:t>
            </a:r>
          </a:p>
          <a:p>
            <a:pPr algn="l">
              <a:lnSpc>
                <a:spcPts val="2963"/>
              </a:lnSpc>
            </a:pPr>
          </a:p>
        </p:txBody>
      </p:sp>
      <p:sp>
        <p:nvSpPr>
          <p:cNvPr name="Freeform 17" id="17"/>
          <p:cNvSpPr/>
          <p:nvPr/>
        </p:nvSpPr>
        <p:spPr>
          <a:xfrm flipH="false" flipV="false" rot="5027046">
            <a:off x="16282896" y="916013"/>
            <a:ext cx="1514128" cy="1379233"/>
          </a:xfrm>
          <a:custGeom>
            <a:avLst/>
            <a:gdLst/>
            <a:ahLst/>
            <a:cxnLst/>
            <a:rect r="r" b="b" t="t" l="l"/>
            <a:pathLst>
              <a:path h="1379233" w="1514128">
                <a:moveTo>
                  <a:pt x="0" y="0"/>
                </a:moveTo>
                <a:lnTo>
                  <a:pt x="1514129" y="0"/>
                </a:lnTo>
                <a:lnTo>
                  <a:pt x="1514129" y="1379234"/>
                </a:lnTo>
                <a:lnTo>
                  <a:pt x="0" y="13792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774117" y="3162406"/>
            <a:ext cx="7025537" cy="892175"/>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Ahkio"/>
                <a:ea typeface="Ahkio"/>
                <a:cs typeface="Ahkio"/>
                <a:sym typeface="Ahkio"/>
              </a:rPr>
              <a:t>DIAGRAM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2122617">
            <a:off x="8504696" y="2247821"/>
            <a:ext cx="1437070" cy="1309040"/>
          </a:xfrm>
          <a:custGeom>
            <a:avLst/>
            <a:gdLst/>
            <a:ahLst/>
            <a:cxnLst/>
            <a:rect r="r" b="b" t="t" l="l"/>
            <a:pathLst>
              <a:path h="1309040" w="1437070">
                <a:moveTo>
                  <a:pt x="0" y="0"/>
                </a:moveTo>
                <a:lnTo>
                  <a:pt x="1437070" y="0"/>
                </a:lnTo>
                <a:lnTo>
                  <a:pt x="1437070" y="1309041"/>
                </a:lnTo>
                <a:lnTo>
                  <a:pt x="0" y="1309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759539" y="3594619"/>
            <a:ext cx="5452145" cy="2844927"/>
          </a:xfrm>
          <a:prstGeom prst="rect">
            <a:avLst/>
          </a:prstGeom>
        </p:spPr>
        <p:txBody>
          <a:bodyPr anchor="t" rtlCol="false" tIns="0" lIns="0" bIns="0" rIns="0">
            <a:spAutoFit/>
          </a:bodyPr>
          <a:lstStyle/>
          <a:p>
            <a:pPr algn="ctr">
              <a:lnSpc>
                <a:spcPts val="5543"/>
              </a:lnSpc>
            </a:pPr>
            <a:r>
              <a:rPr lang="en-US" sz="5599" spc="123">
                <a:solidFill>
                  <a:srgbClr val="000000"/>
                </a:solidFill>
                <a:latin typeface="Ahkio"/>
                <a:ea typeface="Ahkio"/>
                <a:cs typeface="Ahkio"/>
                <a:sym typeface="Ahkio"/>
              </a:rPr>
              <a:t>What </a:t>
            </a:r>
          </a:p>
          <a:p>
            <a:pPr algn="ctr">
              <a:lnSpc>
                <a:spcPts val="5543"/>
              </a:lnSpc>
            </a:pPr>
            <a:r>
              <a:rPr lang="en-US" sz="5599" spc="123">
                <a:solidFill>
                  <a:srgbClr val="000000"/>
                </a:solidFill>
                <a:latin typeface="Ahkio"/>
                <a:ea typeface="Ahkio"/>
                <a:cs typeface="Ahkio"/>
                <a:sym typeface="Ahkio"/>
              </a:rPr>
              <a:t>Sets</a:t>
            </a:r>
          </a:p>
          <a:p>
            <a:pPr algn="ctr">
              <a:lnSpc>
                <a:spcPts val="5543"/>
              </a:lnSpc>
            </a:pPr>
            <a:r>
              <a:rPr lang="en-US" sz="5599" spc="123">
                <a:solidFill>
                  <a:srgbClr val="000000"/>
                </a:solidFill>
                <a:latin typeface="Ahkio"/>
                <a:ea typeface="Ahkio"/>
                <a:cs typeface="Ahkio"/>
                <a:sym typeface="Ahkio"/>
              </a:rPr>
              <a:t>US </a:t>
            </a:r>
          </a:p>
          <a:p>
            <a:pPr algn="ctr">
              <a:lnSpc>
                <a:spcPts val="5543"/>
              </a:lnSpc>
            </a:pPr>
            <a:r>
              <a:rPr lang="en-US" sz="5599" spc="123">
                <a:solidFill>
                  <a:srgbClr val="000000"/>
                </a:solidFill>
                <a:latin typeface="Ahkio"/>
                <a:ea typeface="Ahkio"/>
                <a:cs typeface="Ahkio"/>
                <a:sym typeface="Ahkio"/>
              </a:rPr>
              <a:t>Apart</a:t>
            </a:r>
          </a:p>
        </p:txBody>
      </p:sp>
      <p:grpSp>
        <p:nvGrpSpPr>
          <p:cNvPr name="Group 4" id="4"/>
          <p:cNvGrpSpPr/>
          <p:nvPr/>
        </p:nvGrpSpPr>
        <p:grpSpPr>
          <a:xfrm rot="0">
            <a:off x="1964208" y="1893931"/>
            <a:ext cx="3705330" cy="976981"/>
            <a:chOff x="0" y="0"/>
            <a:chExt cx="1066981" cy="281330"/>
          </a:xfrm>
        </p:grpSpPr>
        <p:sp>
          <p:nvSpPr>
            <p:cNvPr name="Freeform 5" id="5"/>
            <p:cNvSpPr/>
            <p:nvPr/>
          </p:nvSpPr>
          <p:spPr>
            <a:xfrm flipH="false" flipV="false" rot="0">
              <a:off x="0" y="0"/>
              <a:ext cx="1066981" cy="281330"/>
            </a:xfrm>
            <a:custGeom>
              <a:avLst/>
              <a:gdLst/>
              <a:ahLst/>
              <a:cxnLst/>
              <a:rect r="r" b="b" t="t" l="l"/>
              <a:pathLst>
                <a:path h="281330" w="1066981">
                  <a:moveTo>
                    <a:pt x="75218" y="0"/>
                  </a:moveTo>
                  <a:lnTo>
                    <a:pt x="991763" y="0"/>
                  </a:lnTo>
                  <a:cubicBezTo>
                    <a:pt x="1011712" y="0"/>
                    <a:pt x="1030844" y="7925"/>
                    <a:pt x="1044950" y="22031"/>
                  </a:cubicBezTo>
                  <a:cubicBezTo>
                    <a:pt x="1059057" y="36137"/>
                    <a:pt x="1066981" y="55269"/>
                    <a:pt x="1066981" y="75218"/>
                  </a:cubicBezTo>
                  <a:lnTo>
                    <a:pt x="1066981" y="206111"/>
                  </a:lnTo>
                  <a:cubicBezTo>
                    <a:pt x="1066981" y="226061"/>
                    <a:pt x="1059057" y="245193"/>
                    <a:pt x="1044950" y="259299"/>
                  </a:cubicBezTo>
                  <a:cubicBezTo>
                    <a:pt x="1030844" y="273405"/>
                    <a:pt x="1011712" y="281330"/>
                    <a:pt x="991763" y="281330"/>
                  </a:cubicBezTo>
                  <a:lnTo>
                    <a:pt x="75218" y="281330"/>
                  </a:lnTo>
                  <a:cubicBezTo>
                    <a:pt x="55269" y="281330"/>
                    <a:pt x="36137" y="273405"/>
                    <a:pt x="22031" y="259299"/>
                  </a:cubicBezTo>
                  <a:cubicBezTo>
                    <a:pt x="7925" y="245193"/>
                    <a:pt x="0" y="226061"/>
                    <a:pt x="0" y="206111"/>
                  </a:cubicBezTo>
                  <a:lnTo>
                    <a:pt x="0" y="75218"/>
                  </a:lnTo>
                  <a:cubicBezTo>
                    <a:pt x="0" y="55269"/>
                    <a:pt x="7925" y="36137"/>
                    <a:pt x="22031" y="22031"/>
                  </a:cubicBezTo>
                  <a:cubicBezTo>
                    <a:pt x="36137" y="7925"/>
                    <a:pt x="55269" y="0"/>
                    <a:pt x="75218" y="0"/>
                  </a:cubicBezTo>
                  <a:close/>
                </a:path>
              </a:pathLst>
            </a:custGeom>
            <a:solidFill>
              <a:srgbClr val="C2EBE3"/>
            </a:solidFill>
          </p:spPr>
        </p:sp>
        <p:sp>
          <p:nvSpPr>
            <p:cNvPr name="TextBox 6" id="6"/>
            <p:cNvSpPr txBox="true"/>
            <p:nvPr/>
          </p:nvSpPr>
          <p:spPr>
            <a:xfrm>
              <a:off x="0" y="28575"/>
              <a:ext cx="1066981" cy="252755"/>
            </a:xfrm>
            <a:prstGeom prst="rect">
              <a:avLst/>
            </a:prstGeom>
          </p:spPr>
          <p:txBody>
            <a:bodyPr anchor="ctr" rtlCol="false" tIns="71438" lIns="71438" bIns="71438" rIns="71438"/>
            <a:lstStyle/>
            <a:p>
              <a:pPr algn="ctr">
                <a:lnSpc>
                  <a:spcPts val="2598"/>
                </a:lnSpc>
              </a:pPr>
            </a:p>
          </p:txBody>
        </p:sp>
      </p:grpSp>
      <p:grpSp>
        <p:nvGrpSpPr>
          <p:cNvPr name="Group 7" id="7"/>
          <p:cNvGrpSpPr/>
          <p:nvPr/>
        </p:nvGrpSpPr>
        <p:grpSpPr>
          <a:xfrm rot="0">
            <a:off x="1882483" y="6006867"/>
            <a:ext cx="3740501" cy="911138"/>
            <a:chOff x="0" y="0"/>
            <a:chExt cx="1077109" cy="262370"/>
          </a:xfrm>
        </p:grpSpPr>
        <p:sp>
          <p:nvSpPr>
            <p:cNvPr name="Freeform 8" id="8"/>
            <p:cNvSpPr/>
            <p:nvPr/>
          </p:nvSpPr>
          <p:spPr>
            <a:xfrm flipH="false" flipV="false" rot="0">
              <a:off x="0" y="0"/>
              <a:ext cx="1077109" cy="262370"/>
            </a:xfrm>
            <a:custGeom>
              <a:avLst/>
              <a:gdLst/>
              <a:ahLst/>
              <a:cxnLst/>
              <a:rect r="r" b="b" t="t" l="l"/>
              <a:pathLst>
                <a:path h="262370" w="1077109">
                  <a:moveTo>
                    <a:pt x="74511" y="0"/>
                  </a:moveTo>
                  <a:lnTo>
                    <a:pt x="1002598" y="0"/>
                  </a:lnTo>
                  <a:cubicBezTo>
                    <a:pt x="1022359" y="0"/>
                    <a:pt x="1041312" y="7850"/>
                    <a:pt x="1055285" y="21824"/>
                  </a:cubicBezTo>
                  <a:cubicBezTo>
                    <a:pt x="1069259" y="35797"/>
                    <a:pt x="1077109" y="54750"/>
                    <a:pt x="1077109" y="74511"/>
                  </a:cubicBezTo>
                  <a:lnTo>
                    <a:pt x="1077109" y="187859"/>
                  </a:lnTo>
                  <a:cubicBezTo>
                    <a:pt x="1077109" y="207620"/>
                    <a:pt x="1069259" y="226573"/>
                    <a:pt x="1055285" y="240546"/>
                  </a:cubicBezTo>
                  <a:cubicBezTo>
                    <a:pt x="1041312" y="254520"/>
                    <a:pt x="1022359" y="262370"/>
                    <a:pt x="1002598" y="262370"/>
                  </a:cubicBezTo>
                  <a:lnTo>
                    <a:pt x="74511" y="262370"/>
                  </a:lnTo>
                  <a:cubicBezTo>
                    <a:pt x="54750" y="262370"/>
                    <a:pt x="35797" y="254520"/>
                    <a:pt x="21824" y="240546"/>
                  </a:cubicBezTo>
                  <a:cubicBezTo>
                    <a:pt x="7850" y="226573"/>
                    <a:pt x="0" y="207620"/>
                    <a:pt x="0" y="187859"/>
                  </a:cubicBezTo>
                  <a:lnTo>
                    <a:pt x="0" y="74511"/>
                  </a:lnTo>
                  <a:cubicBezTo>
                    <a:pt x="0" y="54750"/>
                    <a:pt x="7850" y="35797"/>
                    <a:pt x="21824" y="21824"/>
                  </a:cubicBezTo>
                  <a:cubicBezTo>
                    <a:pt x="35797" y="7850"/>
                    <a:pt x="54750" y="0"/>
                    <a:pt x="74511" y="0"/>
                  </a:cubicBezTo>
                  <a:close/>
                </a:path>
              </a:pathLst>
            </a:custGeom>
            <a:solidFill>
              <a:srgbClr val="FBC046"/>
            </a:solidFill>
          </p:spPr>
        </p:sp>
        <p:sp>
          <p:nvSpPr>
            <p:cNvPr name="TextBox 9" id="9"/>
            <p:cNvSpPr txBox="true"/>
            <p:nvPr/>
          </p:nvSpPr>
          <p:spPr>
            <a:xfrm>
              <a:off x="0" y="28575"/>
              <a:ext cx="1077109" cy="233795"/>
            </a:xfrm>
            <a:prstGeom prst="rect">
              <a:avLst/>
            </a:prstGeom>
          </p:spPr>
          <p:txBody>
            <a:bodyPr anchor="ctr" rtlCol="false" tIns="71438" lIns="71438" bIns="71438" rIns="71438"/>
            <a:lstStyle/>
            <a:p>
              <a:pPr algn="ctr">
                <a:lnSpc>
                  <a:spcPts val="2598"/>
                </a:lnSpc>
              </a:pPr>
            </a:p>
          </p:txBody>
        </p:sp>
      </p:grpSp>
      <p:grpSp>
        <p:nvGrpSpPr>
          <p:cNvPr name="Group 10" id="10"/>
          <p:cNvGrpSpPr/>
          <p:nvPr/>
        </p:nvGrpSpPr>
        <p:grpSpPr>
          <a:xfrm rot="0">
            <a:off x="12690807" y="1893931"/>
            <a:ext cx="3740501" cy="911138"/>
            <a:chOff x="0" y="0"/>
            <a:chExt cx="1077109" cy="262370"/>
          </a:xfrm>
        </p:grpSpPr>
        <p:sp>
          <p:nvSpPr>
            <p:cNvPr name="Freeform 11" id="11"/>
            <p:cNvSpPr/>
            <p:nvPr/>
          </p:nvSpPr>
          <p:spPr>
            <a:xfrm flipH="false" flipV="false" rot="0">
              <a:off x="0" y="0"/>
              <a:ext cx="1077109" cy="262370"/>
            </a:xfrm>
            <a:custGeom>
              <a:avLst/>
              <a:gdLst/>
              <a:ahLst/>
              <a:cxnLst/>
              <a:rect r="r" b="b" t="t" l="l"/>
              <a:pathLst>
                <a:path h="262370" w="1077109">
                  <a:moveTo>
                    <a:pt x="74511" y="0"/>
                  </a:moveTo>
                  <a:lnTo>
                    <a:pt x="1002598" y="0"/>
                  </a:lnTo>
                  <a:cubicBezTo>
                    <a:pt x="1022359" y="0"/>
                    <a:pt x="1041312" y="7850"/>
                    <a:pt x="1055285" y="21824"/>
                  </a:cubicBezTo>
                  <a:cubicBezTo>
                    <a:pt x="1069259" y="35797"/>
                    <a:pt x="1077109" y="54750"/>
                    <a:pt x="1077109" y="74511"/>
                  </a:cubicBezTo>
                  <a:lnTo>
                    <a:pt x="1077109" y="187859"/>
                  </a:lnTo>
                  <a:cubicBezTo>
                    <a:pt x="1077109" y="207620"/>
                    <a:pt x="1069259" y="226573"/>
                    <a:pt x="1055285" y="240546"/>
                  </a:cubicBezTo>
                  <a:cubicBezTo>
                    <a:pt x="1041312" y="254520"/>
                    <a:pt x="1022359" y="262370"/>
                    <a:pt x="1002598" y="262370"/>
                  </a:cubicBezTo>
                  <a:lnTo>
                    <a:pt x="74511" y="262370"/>
                  </a:lnTo>
                  <a:cubicBezTo>
                    <a:pt x="54750" y="262370"/>
                    <a:pt x="35797" y="254520"/>
                    <a:pt x="21824" y="240546"/>
                  </a:cubicBezTo>
                  <a:cubicBezTo>
                    <a:pt x="7850" y="226573"/>
                    <a:pt x="0" y="207620"/>
                    <a:pt x="0" y="187859"/>
                  </a:cubicBezTo>
                  <a:lnTo>
                    <a:pt x="0" y="74511"/>
                  </a:lnTo>
                  <a:cubicBezTo>
                    <a:pt x="0" y="54750"/>
                    <a:pt x="7850" y="35797"/>
                    <a:pt x="21824" y="21824"/>
                  </a:cubicBezTo>
                  <a:cubicBezTo>
                    <a:pt x="35797" y="7850"/>
                    <a:pt x="54750" y="0"/>
                    <a:pt x="74511" y="0"/>
                  </a:cubicBezTo>
                  <a:close/>
                </a:path>
              </a:pathLst>
            </a:custGeom>
            <a:solidFill>
              <a:srgbClr val="FBC046"/>
            </a:solidFill>
          </p:spPr>
        </p:sp>
        <p:sp>
          <p:nvSpPr>
            <p:cNvPr name="TextBox 12" id="12"/>
            <p:cNvSpPr txBox="true"/>
            <p:nvPr/>
          </p:nvSpPr>
          <p:spPr>
            <a:xfrm>
              <a:off x="0" y="28575"/>
              <a:ext cx="1077109" cy="233795"/>
            </a:xfrm>
            <a:prstGeom prst="rect">
              <a:avLst/>
            </a:prstGeom>
          </p:spPr>
          <p:txBody>
            <a:bodyPr anchor="ctr" rtlCol="false" tIns="71438" lIns="71438" bIns="71438" rIns="71438"/>
            <a:lstStyle/>
            <a:p>
              <a:pPr algn="ctr">
                <a:lnSpc>
                  <a:spcPts val="2598"/>
                </a:lnSpc>
              </a:pPr>
            </a:p>
          </p:txBody>
        </p:sp>
      </p:grpSp>
      <p:grpSp>
        <p:nvGrpSpPr>
          <p:cNvPr name="Group 13" id="13"/>
          <p:cNvGrpSpPr/>
          <p:nvPr/>
        </p:nvGrpSpPr>
        <p:grpSpPr>
          <a:xfrm rot="0">
            <a:off x="13001015" y="5562286"/>
            <a:ext cx="3705330" cy="956919"/>
            <a:chOff x="0" y="0"/>
            <a:chExt cx="1066981" cy="275553"/>
          </a:xfrm>
        </p:grpSpPr>
        <p:sp>
          <p:nvSpPr>
            <p:cNvPr name="Freeform 14" id="14"/>
            <p:cNvSpPr/>
            <p:nvPr/>
          </p:nvSpPr>
          <p:spPr>
            <a:xfrm flipH="false" flipV="false" rot="0">
              <a:off x="0" y="0"/>
              <a:ext cx="1066981" cy="275553"/>
            </a:xfrm>
            <a:custGeom>
              <a:avLst/>
              <a:gdLst/>
              <a:ahLst/>
              <a:cxnLst/>
              <a:rect r="r" b="b" t="t" l="l"/>
              <a:pathLst>
                <a:path h="275553" w="1066981">
                  <a:moveTo>
                    <a:pt x="75218" y="0"/>
                  </a:moveTo>
                  <a:lnTo>
                    <a:pt x="991763" y="0"/>
                  </a:lnTo>
                  <a:cubicBezTo>
                    <a:pt x="1011712" y="0"/>
                    <a:pt x="1030844" y="7925"/>
                    <a:pt x="1044950" y="22031"/>
                  </a:cubicBezTo>
                  <a:cubicBezTo>
                    <a:pt x="1059057" y="36137"/>
                    <a:pt x="1066981" y="55269"/>
                    <a:pt x="1066981" y="75218"/>
                  </a:cubicBezTo>
                  <a:lnTo>
                    <a:pt x="1066981" y="200335"/>
                  </a:lnTo>
                  <a:cubicBezTo>
                    <a:pt x="1066981" y="220284"/>
                    <a:pt x="1059057" y="239416"/>
                    <a:pt x="1044950" y="253522"/>
                  </a:cubicBezTo>
                  <a:cubicBezTo>
                    <a:pt x="1030844" y="267628"/>
                    <a:pt x="1011712" y="275553"/>
                    <a:pt x="991763" y="275553"/>
                  </a:cubicBezTo>
                  <a:lnTo>
                    <a:pt x="75218" y="275553"/>
                  </a:lnTo>
                  <a:cubicBezTo>
                    <a:pt x="55269" y="275553"/>
                    <a:pt x="36137" y="267628"/>
                    <a:pt x="22031" y="253522"/>
                  </a:cubicBezTo>
                  <a:cubicBezTo>
                    <a:pt x="7925" y="239416"/>
                    <a:pt x="0" y="220284"/>
                    <a:pt x="0" y="200335"/>
                  </a:cubicBezTo>
                  <a:lnTo>
                    <a:pt x="0" y="75218"/>
                  </a:lnTo>
                  <a:cubicBezTo>
                    <a:pt x="0" y="55269"/>
                    <a:pt x="7925" y="36137"/>
                    <a:pt x="22031" y="22031"/>
                  </a:cubicBezTo>
                  <a:cubicBezTo>
                    <a:pt x="36137" y="7925"/>
                    <a:pt x="55269" y="0"/>
                    <a:pt x="75218" y="0"/>
                  </a:cubicBezTo>
                  <a:close/>
                </a:path>
              </a:pathLst>
            </a:custGeom>
            <a:solidFill>
              <a:srgbClr val="E6BFE1"/>
            </a:solidFill>
          </p:spPr>
        </p:sp>
        <p:sp>
          <p:nvSpPr>
            <p:cNvPr name="TextBox 15" id="15"/>
            <p:cNvSpPr txBox="true"/>
            <p:nvPr/>
          </p:nvSpPr>
          <p:spPr>
            <a:xfrm>
              <a:off x="0" y="28575"/>
              <a:ext cx="1066981" cy="246978"/>
            </a:xfrm>
            <a:prstGeom prst="rect">
              <a:avLst/>
            </a:prstGeom>
          </p:spPr>
          <p:txBody>
            <a:bodyPr anchor="ctr" rtlCol="false" tIns="71438" lIns="71438" bIns="71438" rIns="71438"/>
            <a:lstStyle/>
            <a:p>
              <a:pPr algn="ctr">
                <a:lnSpc>
                  <a:spcPts val="2598"/>
                </a:lnSpc>
              </a:pPr>
            </a:p>
          </p:txBody>
        </p:sp>
      </p:grpSp>
      <p:sp>
        <p:nvSpPr>
          <p:cNvPr name="Freeform 16" id="16"/>
          <p:cNvSpPr/>
          <p:nvPr/>
        </p:nvSpPr>
        <p:spPr>
          <a:xfrm flipH="false" flipV="false" rot="-1643804">
            <a:off x="10477014" y="2895848"/>
            <a:ext cx="2196191" cy="611817"/>
          </a:xfrm>
          <a:custGeom>
            <a:avLst/>
            <a:gdLst/>
            <a:ahLst/>
            <a:cxnLst/>
            <a:rect r="r" b="b" t="t" l="l"/>
            <a:pathLst>
              <a:path h="611817" w="2196191">
                <a:moveTo>
                  <a:pt x="0" y="0"/>
                </a:moveTo>
                <a:lnTo>
                  <a:pt x="2196190" y="0"/>
                </a:lnTo>
                <a:lnTo>
                  <a:pt x="2196190" y="611816"/>
                </a:lnTo>
                <a:lnTo>
                  <a:pt x="0" y="611816"/>
                </a:lnTo>
                <a:lnTo>
                  <a:pt x="0" y="0"/>
                </a:lnTo>
                <a:close/>
              </a:path>
            </a:pathLst>
          </a:custGeom>
          <a:blipFill>
            <a:blip r:embed="rId4">
              <a:extLst>
                <a:ext uri="{96DAC541-7B7A-43D3-8B79-37D633B846F1}">
                  <asvg:svgBlip xmlns:asvg="http://schemas.microsoft.com/office/drawing/2016/SVG/main" r:embed="rId5"/>
                </a:ext>
              </a:extLst>
            </a:blip>
            <a:stretch>
              <a:fillRect l="-233085" t="0" r="0" b="0"/>
            </a:stretch>
          </a:blipFill>
        </p:spPr>
      </p:sp>
      <p:sp>
        <p:nvSpPr>
          <p:cNvPr name="TextBox 17" id="17"/>
          <p:cNvSpPr txBox="true"/>
          <p:nvPr/>
        </p:nvSpPr>
        <p:spPr>
          <a:xfrm rot="0">
            <a:off x="1946609" y="6218596"/>
            <a:ext cx="3612249" cy="516255"/>
          </a:xfrm>
          <a:prstGeom prst="rect">
            <a:avLst/>
          </a:prstGeom>
        </p:spPr>
        <p:txBody>
          <a:bodyPr anchor="t" rtlCol="false" tIns="0" lIns="0" bIns="0" rIns="0">
            <a:spAutoFit/>
          </a:bodyPr>
          <a:lstStyle/>
          <a:p>
            <a:pPr algn="ctr">
              <a:lnSpc>
                <a:spcPts val="3779"/>
              </a:lnSpc>
              <a:spcBef>
                <a:spcPct val="0"/>
              </a:spcBef>
            </a:pPr>
            <a:r>
              <a:rPr lang="en-US" sz="3599" spc="151">
                <a:solidFill>
                  <a:srgbClr val="000000"/>
                </a:solidFill>
                <a:latin typeface="Ahkio"/>
                <a:ea typeface="Ahkio"/>
                <a:cs typeface="Ahkio"/>
                <a:sym typeface="Ahkio"/>
              </a:rPr>
              <a:t>Cost Effective</a:t>
            </a:r>
          </a:p>
        </p:txBody>
      </p:sp>
      <p:sp>
        <p:nvSpPr>
          <p:cNvPr name="TextBox 18" id="18"/>
          <p:cNvSpPr txBox="true"/>
          <p:nvPr/>
        </p:nvSpPr>
        <p:spPr>
          <a:xfrm rot="0">
            <a:off x="2030445" y="2105660"/>
            <a:ext cx="3519411" cy="516255"/>
          </a:xfrm>
          <a:prstGeom prst="rect">
            <a:avLst/>
          </a:prstGeom>
        </p:spPr>
        <p:txBody>
          <a:bodyPr anchor="t" rtlCol="false" tIns="0" lIns="0" bIns="0" rIns="0">
            <a:spAutoFit/>
          </a:bodyPr>
          <a:lstStyle/>
          <a:p>
            <a:pPr algn="ctr">
              <a:lnSpc>
                <a:spcPts val="3779"/>
              </a:lnSpc>
              <a:spcBef>
                <a:spcPct val="0"/>
              </a:spcBef>
            </a:pPr>
            <a:r>
              <a:rPr lang="en-US" sz="3599" spc="151" u="sng">
                <a:solidFill>
                  <a:srgbClr val="000000"/>
                </a:solidFill>
                <a:latin typeface="Ahkio"/>
                <a:ea typeface="Ahkio"/>
                <a:cs typeface="Ahkio"/>
                <a:sym typeface="Ahkio"/>
              </a:rPr>
              <a:t>Unique Fusion</a:t>
            </a:r>
          </a:p>
        </p:txBody>
      </p:sp>
      <p:sp>
        <p:nvSpPr>
          <p:cNvPr name="TextBox 19" id="19"/>
          <p:cNvSpPr txBox="true"/>
          <p:nvPr/>
        </p:nvSpPr>
        <p:spPr>
          <a:xfrm rot="0">
            <a:off x="2053021" y="3057975"/>
            <a:ext cx="4005500" cy="1945005"/>
          </a:xfrm>
          <a:prstGeom prst="rect">
            <a:avLst/>
          </a:prstGeom>
        </p:spPr>
        <p:txBody>
          <a:bodyPr anchor="t" rtlCol="false" tIns="0" lIns="0" bIns="0" rIns="0">
            <a:spAutoFit/>
          </a:bodyPr>
          <a:lstStyle/>
          <a:p>
            <a:pPr algn="l" marL="777237" indent="-388618" lvl="1">
              <a:lnSpc>
                <a:spcPts val="3779"/>
              </a:lnSpc>
              <a:buFont typeface="Arial"/>
              <a:buChar char="•"/>
            </a:pPr>
            <a:r>
              <a:rPr lang="en-US" sz="3599" spc="151">
                <a:solidFill>
                  <a:srgbClr val="000000"/>
                </a:solidFill>
                <a:latin typeface="Ahkio"/>
                <a:ea typeface="Ahkio"/>
                <a:cs typeface="Ahkio"/>
                <a:sym typeface="Ahkio"/>
              </a:rPr>
              <a:t>Satellite + IoT for higher accuracy than single-source systems.</a:t>
            </a:r>
          </a:p>
        </p:txBody>
      </p:sp>
      <p:sp>
        <p:nvSpPr>
          <p:cNvPr name="TextBox 20" id="20"/>
          <p:cNvSpPr txBox="true"/>
          <p:nvPr/>
        </p:nvSpPr>
        <p:spPr>
          <a:xfrm rot="0">
            <a:off x="13309512" y="5826498"/>
            <a:ext cx="3088337" cy="516255"/>
          </a:xfrm>
          <a:prstGeom prst="rect">
            <a:avLst/>
          </a:prstGeom>
        </p:spPr>
        <p:txBody>
          <a:bodyPr anchor="t" rtlCol="false" tIns="0" lIns="0" bIns="0" rIns="0">
            <a:spAutoFit/>
          </a:bodyPr>
          <a:lstStyle/>
          <a:p>
            <a:pPr algn="ctr">
              <a:lnSpc>
                <a:spcPts val="3779"/>
              </a:lnSpc>
              <a:spcBef>
                <a:spcPct val="0"/>
              </a:spcBef>
            </a:pPr>
            <a:r>
              <a:rPr lang="en-US" sz="3599" spc="151">
                <a:solidFill>
                  <a:srgbClr val="000000"/>
                </a:solidFill>
                <a:latin typeface="Ahkio"/>
                <a:ea typeface="Ahkio"/>
                <a:cs typeface="Ahkio"/>
                <a:sym typeface="Ahkio"/>
              </a:rPr>
              <a:t>Cutting Edge</a:t>
            </a:r>
          </a:p>
        </p:txBody>
      </p:sp>
      <p:sp>
        <p:nvSpPr>
          <p:cNvPr name="TextBox 21" id="21"/>
          <p:cNvSpPr txBox="true"/>
          <p:nvPr/>
        </p:nvSpPr>
        <p:spPr>
          <a:xfrm rot="0">
            <a:off x="13071113" y="2138581"/>
            <a:ext cx="3088337" cy="516255"/>
          </a:xfrm>
          <a:prstGeom prst="rect">
            <a:avLst/>
          </a:prstGeom>
        </p:spPr>
        <p:txBody>
          <a:bodyPr anchor="t" rtlCol="false" tIns="0" lIns="0" bIns="0" rIns="0">
            <a:spAutoFit/>
          </a:bodyPr>
          <a:lstStyle/>
          <a:p>
            <a:pPr algn="ctr">
              <a:lnSpc>
                <a:spcPts val="3779"/>
              </a:lnSpc>
              <a:spcBef>
                <a:spcPct val="0"/>
              </a:spcBef>
            </a:pPr>
            <a:r>
              <a:rPr lang="en-US" sz="3599" spc="151">
                <a:solidFill>
                  <a:srgbClr val="000000"/>
                </a:solidFill>
                <a:latin typeface="Ahkio"/>
                <a:ea typeface="Ahkio"/>
                <a:cs typeface="Ahkio"/>
                <a:sym typeface="Ahkio"/>
              </a:rPr>
              <a:t>Scalable</a:t>
            </a:r>
          </a:p>
        </p:txBody>
      </p:sp>
      <p:sp>
        <p:nvSpPr>
          <p:cNvPr name="Freeform 22" id="22"/>
          <p:cNvSpPr/>
          <p:nvPr/>
        </p:nvSpPr>
        <p:spPr>
          <a:xfrm flipH="false" flipV="false" rot="1177705">
            <a:off x="10484480" y="5256378"/>
            <a:ext cx="2196191" cy="611817"/>
          </a:xfrm>
          <a:custGeom>
            <a:avLst/>
            <a:gdLst/>
            <a:ahLst/>
            <a:cxnLst/>
            <a:rect r="r" b="b" t="t" l="l"/>
            <a:pathLst>
              <a:path h="611817" w="2196191">
                <a:moveTo>
                  <a:pt x="0" y="0"/>
                </a:moveTo>
                <a:lnTo>
                  <a:pt x="2196191" y="0"/>
                </a:lnTo>
                <a:lnTo>
                  <a:pt x="2196191" y="611817"/>
                </a:lnTo>
                <a:lnTo>
                  <a:pt x="0" y="611817"/>
                </a:lnTo>
                <a:lnTo>
                  <a:pt x="0" y="0"/>
                </a:lnTo>
                <a:close/>
              </a:path>
            </a:pathLst>
          </a:custGeom>
          <a:blipFill>
            <a:blip r:embed="rId4">
              <a:extLst>
                <a:ext uri="{96DAC541-7B7A-43D3-8B79-37D633B846F1}">
                  <asvg:svgBlip xmlns:asvg="http://schemas.microsoft.com/office/drawing/2016/SVG/main" r:embed="rId5"/>
                </a:ext>
              </a:extLst>
            </a:blip>
            <a:stretch>
              <a:fillRect l="-233085" t="0" r="0" b="0"/>
            </a:stretch>
          </a:blipFill>
        </p:spPr>
      </p:sp>
      <p:sp>
        <p:nvSpPr>
          <p:cNvPr name="Freeform 23" id="23"/>
          <p:cNvSpPr/>
          <p:nvPr/>
        </p:nvSpPr>
        <p:spPr>
          <a:xfrm flipH="false" flipV="false" rot="-8767587">
            <a:off x="5953077" y="3012795"/>
            <a:ext cx="2196191" cy="611817"/>
          </a:xfrm>
          <a:custGeom>
            <a:avLst/>
            <a:gdLst/>
            <a:ahLst/>
            <a:cxnLst/>
            <a:rect r="r" b="b" t="t" l="l"/>
            <a:pathLst>
              <a:path h="611817" w="2196191">
                <a:moveTo>
                  <a:pt x="0" y="0"/>
                </a:moveTo>
                <a:lnTo>
                  <a:pt x="2196191" y="0"/>
                </a:lnTo>
                <a:lnTo>
                  <a:pt x="2196191" y="611817"/>
                </a:lnTo>
                <a:lnTo>
                  <a:pt x="0" y="611817"/>
                </a:lnTo>
                <a:lnTo>
                  <a:pt x="0" y="0"/>
                </a:lnTo>
                <a:close/>
              </a:path>
            </a:pathLst>
          </a:custGeom>
          <a:blipFill>
            <a:blip r:embed="rId4">
              <a:extLst>
                <a:ext uri="{96DAC541-7B7A-43D3-8B79-37D633B846F1}">
                  <asvg:svgBlip xmlns:asvg="http://schemas.microsoft.com/office/drawing/2016/SVG/main" r:embed="rId5"/>
                </a:ext>
              </a:extLst>
            </a:blip>
            <a:stretch>
              <a:fillRect l="-233085" t="0" r="0" b="0"/>
            </a:stretch>
          </a:blipFill>
        </p:spPr>
      </p:sp>
      <p:sp>
        <p:nvSpPr>
          <p:cNvPr name="Freeform 24" id="24"/>
          <p:cNvSpPr/>
          <p:nvPr/>
        </p:nvSpPr>
        <p:spPr>
          <a:xfrm flipH="false" flipV="false" rot="9634678">
            <a:off x="5897964" y="5509204"/>
            <a:ext cx="2196191" cy="611817"/>
          </a:xfrm>
          <a:custGeom>
            <a:avLst/>
            <a:gdLst/>
            <a:ahLst/>
            <a:cxnLst/>
            <a:rect r="r" b="b" t="t" l="l"/>
            <a:pathLst>
              <a:path h="611817" w="2196191">
                <a:moveTo>
                  <a:pt x="0" y="0"/>
                </a:moveTo>
                <a:lnTo>
                  <a:pt x="2196191" y="0"/>
                </a:lnTo>
                <a:lnTo>
                  <a:pt x="2196191" y="611817"/>
                </a:lnTo>
                <a:lnTo>
                  <a:pt x="0" y="611817"/>
                </a:lnTo>
                <a:lnTo>
                  <a:pt x="0" y="0"/>
                </a:lnTo>
                <a:close/>
              </a:path>
            </a:pathLst>
          </a:custGeom>
          <a:blipFill>
            <a:blip r:embed="rId4">
              <a:extLst>
                <a:ext uri="{96DAC541-7B7A-43D3-8B79-37D633B846F1}">
                  <asvg:svgBlip xmlns:asvg="http://schemas.microsoft.com/office/drawing/2016/SVG/main" r:embed="rId5"/>
                </a:ext>
              </a:extLst>
            </a:blip>
            <a:stretch>
              <a:fillRect l="-233085" t="0" r="0" b="0"/>
            </a:stretch>
          </a:blipFill>
        </p:spPr>
      </p:sp>
      <p:sp>
        <p:nvSpPr>
          <p:cNvPr name="Freeform 25" id="25"/>
          <p:cNvSpPr/>
          <p:nvPr/>
        </p:nvSpPr>
        <p:spPr>
          <a:xfrm flipH="false" flipV="false" rot="-8261386">
            <a:off x="8672556" y="6509905"/>
            <a:ext cx="1437070" cy="1309040"/>
          </a:xfrm>
          <a:custGeom>
            <a:avLst/>
            <a:gdLst/>
            <a:ahLst/>
            <a:cxnLst/>
            <a:rect r="r" b="b" t="t" l="l"/>
            <a:pathLst>
              <a:path h="1309040" w="1437070">
                <a:moveTo>
                  <a:pt x="0" y="0"/>
                </a:moveTo>
                <a:lnTo>
                  <a:pt x="1437070" y="0"/>
                </a:lnTo>
                <a:lnTo>
                  <a:pt x="1437070" y="1309041"/>
                </a:lnTo>
                <a:lnTo>
                  <a:pt x="0" y="1309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6" id="26"/>
          <p:cNvSpPr txBox="true"/>
          <p:nvPr/>
        </p:nvSpPr>
        <p:spPr>
          <a:xfrm rot="0">
            <a:off x="1946609" y="7251380"/>
            <a:ext cx="4005500" cy="1945005"/>
          </a:xfrm>
          <a:prstGeom prst="rect">
            <a:avLst/>
          </a:prstGeom>
        </p:spPr>
        <p:txBody>
          <a:bodyPr anchor="t" rtlCol="false" tIns="0" lIns="0" bIns="0" rIns="0">
            <a:spAutoFit/>
          </a:bodyPr>
          <a:lstStyle/>
          <a:p>
            <a:pPr algn="l" marL="777237" indent="-388618" lvl="1">
              <a:lnSpc>
                <a:spcPts val="3779"/>
              </a:lnSpc>
              <a:buFont typeface="Arial"/>
              <a:buChar char="•"/>
            </a:pPr>
            <a:r>
              <a:rPr lang="en-US" sz="3599" spc="151">
                <a:solidFill>
                  <a:srgbClr val="000000"/>
                </a:solidFill>
                <a:latin typeface="Ahkio"/>
                <a:ea typeface="Ahkio"/>
                <a:cs typeface="Ahkio"/>
                <a:sym typeface="Ahkio"/>
              </a:rPr>
              <a:t>Uses public data (Sentinel-1, Landsat) + targeted IoT.</a:t>
            </a:r>
          </a:p>
        </p:txBody>
      </p:sp>
      <p:sp>
        <p:nvSpPr>
          <p:cNvPr name="TextBox 27" id="27"/>
          <p:cNvSpPr txBox="true"/>
          <p:nvPr/>
        </p:nvSpPr>
        <p:spPr>
          <a:xfrm rot="0">
            <a:off x="12612532" y="2930917"/>
            <a:ext cx="4005500" cy="1945005"/>
          </a:xfrm>
          <a:prstGeom prst="rect">
            <a:avLst/>
          </a:prstGeom>
        </p:spPr>
        <p:txBody>
          <a:bodyPr anchor="t" rtlCol="false" tIns="0" lIns="0" bIns="0" rIns="0">
            <a:spAutoFit/>
          </a:bodyPr>
          <a:lstStyle/>
          <a:p>
            <a:pPr algn="l" marL="777237" indent="-388618" lvl="1">
              <a:lnSpc>
                <a:spcPts val="3779"/>
              </a:lnSpc>
              <a:buFont typeface="Arial"/>
              <a:buChar char="•"/>
            </a:pPr>
            <a:r>
              <a:rPr lang="en-US" sz="3599" spc="151">
                <a:solidFill>
                  <a:srgbClr val="000000"/>
                </a:solidFill>
                <a:latin typeface="Ahkio"/>
                <a:ea typeface="Ahkio"/>
                <a:cs typeface="Ahkio"/>
                <a:sym typeface="Ahkio"/>
              </a:rPr>
              <a:t>Covers large areas vs. manual or IoT-only solutions.</a:t>
            </a:r>
          </a:p>
        </p:txBody>
      </p:sp>
      <p:sp>
        <p:nvSpPr>
          <p:cNvPr name="Freeform 28" id="28"/>
          <p:cNvSpPr/>
          <p:nvPr/>
        </p:nvSpPr>
        <p:spPr>
          <a:xfrm flipH="true" flipV="false" rot="-10800000">
            <a:off x="7670131" y="8661831"/>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13001015" y="6852580"/>
            <a:ext cx="4005500" cy="1945005"/>
          </a:xfrm>
          <a:prstGeom prst="rect">
            <a:avLst/>
          </a:prstGeom>
        </p:spPr>
        <p:txBody>
          <a:bodyPr anchor="t" rtlCol="false" tIns="0" lIns="0" bIns="0" rIns="0">
            <a:spAutoFit/>
          </a:bodyPr>
          <a:lstStyle/>
          <a:p>
            <a:pPr algn="l" marL="777237" indent="-388618" lvl="1">
              <a:lnSpc>
                <a:spcPts val="3779"/>
              </a:lnSpc>
              <a:buFont typeface="Arial"/>
              <a:buChar char="•"/>
            </a:pPr>
            <a:r>
              <a:rPr lang="en-US" sz="3599" spc="151">
                <a:solidFill>
                  <a:srgbClr val="000000"/>
                </a:solidFill>
                <a:latin typeface="Ahkio"/>
                <a:ea typeface="Ahkio"/>
                <a:cs typeface="Ahkio"/>
                <a:sym typeface="Ahkio"/>
              </a:rPr>
              <a:t>Outperforms manual methods; rivals Utilis with IoT validation.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7670131" y="8661831"/>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074390" y="1314543"/>
            <a:ext cx="12148746" cy="7912169"/>
            <a:chOff x="0" y="0"/>
            <a:chExt cx="16549709" cy="10778404"/>
          </a:xfrm>
        </p:grpSpPr>
        <p:sp>
          <p:nvSpPr>
            <p:cNvPr name="Freeform 5" id="5"/>
            <p:cNvSpPr/>
            <p:nvPr/>
          </p:nvSpPr>
          <p:spPr>
            <a:xfrm flipH="false" flipV="false" rot="0">
              <a:off x="31750" y="31750"/>
              <a:ext cx="16486209" cy="10714903"/>
            </a:xfrm>
            <a:custGeom>
              <a:avLst/>
              <a:gdLst/>
              <a:ahLst/>
              <a:cxnLst/>
              <a:rect r="r" b="b" t="t" l="l"/>
              <a:pathLst>
                <a:path h="10714903" w="16486209">
                  <a:moveTo>
                    <a:pt x="16393499" y="10714903"/>
                  </a:moveTo>
                  <a:lnTo>
                    <a:pt x="92710" y="10714903"/>
                  </a:lnTo>
                  <a:cubicBezTo>
                    <a:pt x="41910" y="10714903"/>
                    <a:pt x="0" y="10672993"/>
                    <a:pt x="0" y="10622193"/>
                  </a:cubicBezTo>
                  <a:lnTo>
                    <a:pt x="0" y="92710"/>
                  </a:lnTo>
                  <a:cubicBezTo>
                    <a:pt x="0" y="41910"/>
                    <a:pt x="41910" y="0"/>
                    <a:pt x="92710" y="0"/>
                  </a:cubicBezTo>
                  <a:lnTo>
                    <a:pt x="16392229" y="0"/>
                  </a:lnTo>
                  <a:cubicBezTo>
                    <a:pt x="16443029" y="0"/>
                    <a:pt x="16484940" y="41910"/>
                    <a:pt x="16484940" y="92710"/>
                  </a:cubicBezTo>
                  <a:lnTo>
                    <a:pt x="16484940" y="10620924"/>
                  </a:lnTo>
                  <a:cubicBezTo>
                    <a:pt x="16486209" y="10672993"/>
                    <a:pt x="16444299" y="10714903"/>
                    <a:pt x="16393499" y="10714903"/>
                  </a:cubicBezTo>
                  <a:close/>
                </a:path>
              </a:pathLst>
            </a:custGeom>
            <a:solidFill>
              <a:srgbClr val="FBF7F1"/>
            </a:solidFill>
          </p:spPr>
        </p:sp>
        <p:sp>
          <p:nvSpPr>
            <p:cNvPr name="Freeform 6" id="6"/>
            <p:cNvSpPr/>
            <p:nvPr/>
          </p:nvSpPr>
          <p:spPr>
            <a:xfrm flipH="false" flipV="false" rot="0">
              <a:off x="0" y="0"/>
              <a:ext cx="16549709" cy="10778404"/>
            </a:xfrm>
            <a:custGeom>
              <a:avLst/>
              <a:gdLst/>
              <a:ahLst/>
              <a:cxnLst/>
              <a:rect r="r" b="b" t="t" l="l"/>
              <a:pathLst>
                <a:path h="10778404" w="16549709">
                  <a:moveTo>
                    <a:pt x="16425249" y="59690"/>
                  </a:moveTo>
                  <a:cubicBezTo>
                    <a:pt x="16460809" y="59690"/>
                    <a:pt x="16490018" y="88900"/>
                    <a:pt x="16490018" y="124460"/>
                  </a:cubicBezTo>
                  <a:lnTo>
                    <a:pt x="16490018" y="10653944"/>
                  </a:lnTo>
                  <a:cubicBezTo>
                    <a:pt x="16490018" y="10689504"/>
                    <a:pt x="16460809" y="10718714"/>
                    <a:pt x="16425249" y="10718714"/>
                  </a:cubicBezTo>
                  <a:lnTo>
                    <a:pt x="124460" y="10718714"/>
                  </a:lnTo>
                  <a:cubicBezTo>
                    <a:pt x="88900" y="10718714"/>
                    <a:pt x="59690" y="10689504"/>
                    <a:pt x="59690" y="10653944"/>
                  </a:cubicBezTo>
                  <a:lnTo>
                    <a:pt x="59690" y="124460"/>
                  </a:lnTo>
                  <a:cubicBezTo>
                    <a:pt x="59690" y="88900"/>
                    <a:pt x="88900" y="59690"/>
                    <a:pt x="124460" y="59690"/>
                  </a:cubicBezTo>
                  <a:lnTo>
                    <a:pt x="16425249" y="59690"/>
                  </a:lnTo>
                  <a:moveTo>
                    <a:pt x="16425249" y="0"/>
                  </a:moveTo>
                  <a:lnTo>
                    <a:pt x="124460" y="0"/>
                  </a:lnTo>
                  <a:cubicBezTo>
                    <a:pt x="55880" y="0"/>
                    <a:pt x="0" y="55880"/>
                    <a:pt x="0" y="124460"/>
                  </a:cubicBezTo>
                  <a:lnTo>
                    <a:pt x="0" y="10653944"/>
                  </a:lnTo>
                  <a:cubicBezTo>
                    <a:pt x="0" y="10722524"/>
                    <a:pt x="55880" y="10778404"/>
                    <a:pt x="124460" y="10778404"/>
                  </a:cubicBezTo>
                  <a:lnTo>
                    <a:pt x="16425249" y="10778404"/>
                  </a:lnTo>
                  <a:cubicBezTo>
                    <a:pt x="16493829" y="10778404"/>
                    <a:pt x="16549709" y="10722524"/>
                    <a:pt x="16549709" y="10653944"/>
                  </a:cubicBezTo>
                  <a:lnTo>
                    <a:pt x="16549709" y="124460"/>
                  </a:lnTo>
                  <a:cubicBezTo>
                    <a:pt x="16549709" y="55880"/>
                    <a:pt x="16493829" y="0"/>
                    <a:pt x="16425249" y="0"/>
                  </a:cubicBezTo>
                  <a:close/>
                </a:path>
              </a:pathLst>
            </a:custGeom>
            <a:solidFill>
              <a:srgbClr val="191919"/>
            </a:solidFill>
          </p:spPr>
        </p:sp>
      </p:grpSp>
      <p:sp>
        <p:nvSpPr>
          <p:cNvPr name="AutoShape 7" id="7"/>
          <p:cNvSpPr/>
          <p:nvPr/>
        </p:nvSpPr>
        <p:spPr>
          <a:xfrm flipH="true">
            <a:off x="3064865" y="4207368"/>
            <a:ext cx="12148746" cy="0"/>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1508112">
            <a:off x="-228184" y="1653592"/>
            <a:ext cx="2513769" cy="4114800"/>
          </a:xfrm>
          <a:custGeom>
            <a:avLst/>
            <a:gdLst/>
            <a:ahLst/>
            <a:cxnLst/>
            <a:rect r="r" b="b" t="t" l="l"/>
            <a:pathLst>
              <a:path h="4114800" w="2513769">
                <a:moveTo>
                  <a:pt x="0" y="0"/>
                </a:moveTo>
                <a:lnTo>
                  <a:pt x="2513768" y="0"/>
                </a:lnTo>
                <a:lnTo>
                  <a:pt x="25137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642708" y="4760694"/>
            <a:ext cx="3366861" cy="3366861"/>
          </a:xfrm>
          <a:custGeom>
            <a:avLst/>
            <a:gdLst/>
            <a:ahLst/>
            <a:cxnLst/>
            <a:rect r="r" b="b" t="t" l="l"/>
            <a:pathLst>
              <a:path h="3366861" w="3366861">
                <a:moveTo>
                  <a:pt x="0" y="0"/>
                </a:moveTo>
                <a:lnTo>
                  <a:pt x="3366861" y="0"/>
                </a:lnTo>
                <a:lnTo>
                  <a:pt x="3366861" y="3366861"/>
                </a:lnTo>
                <a:lnTo>
                  <a:pt x="0" y="33668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7659226" y="4760694"/>
            <a:ext cx="3321166" cy="3321166"/>
          </a:xfrm>
          <a:custGeom>
            <a:avLst/>
            <a:gdLst/>
            <a:ahLst/>
            <a:cxnLst/>
            <a:rect r="r" b="b" t="t" l="l"/>
            <a:pathLst>
              <a:path h="3321166" w="3321166">
                <a:moveTo>
                  <a:pt x="0" y="0"/>
                </a:moveTo>
                <a:lnTo>
                  <a:pt x="3321166" y="0"/>
                </a:lnTo>
                <a:lnTo>
                  <a:pt x="3321166" y="3321167"/>
                </a:lnTo>
                <a:lnTo>
                  <a:pt x="0" y="3321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1390282" y="4872545"/>
            <a:ext cx="3255010" cy="3255010"/>
          </a:xfrm>
          <a:custGeom>
            <a:avLst/>
            <a:gdLst/>
            <a:ahLst/>
            <a:cxnLst/>
            <a:rect r="r" b="b" t="t" l="l"/>
            <a:pathLst>
              <a:path h="3255010" w="3255010">
                <a:moveTo>
                  <a:pt x="0" y="0"/>
                </a:moveTo>
                <a:lnTo>
                  <a:pt x="3255010" y="0"/>
                </a:lnTo>
                <a:lnTo>
                  <a:pt x="3255010" y="3255010"/>
                </a:lnTo>
                <a:lnTo>
                  <a:pt x="0" y="32550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4087408">
            <a:off x="1193680" y="7229350"/>
            <a:ext cx="1514128" cy="1379233"/>
          </a:xfrm>
          <a:custGeom>
            <a:avLst/>
            <a:gdLst/>
            <a:ahLst/>
            <a:cxnLst/>
            <a:rect r="r" b="b" t="t" l="l"/>
            <a:pathLst>
              <a:path h="1379233" w="1514128">
                <a:moveTo>
                  <a:pt x="0" y="0"/>
                </a:moveTo>
                <a:lnTo>
                  <a:pt x="1514129" y="0"/>
                </a:lnTo>
                <a:lnTo>
                  <a:pt x="1514129" y="1379233"/>
                </a:lnTo>
                <a:lnTo>
                  <a:pt x="0" y="13792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3282171" y="1496267"/>
            <a:ext cx="11733184" cy="2554262"/>
          </a:xfrm>
          <a:custGeom>
            <a:avLst/>
            <a:gdLst/>
            <a:ahLst/>
            <a:cxnLst/>
            <a:rect r="r" b="b" t="t" l="l"/>
            <a:pathLst>
              <a:path h="2554262" w="11733184">
                <a:moveTo>
                  <a:pt x="0" y="0"/>
                </a:moveTo>
                <a:lnTo>
                  <a:pt x="11733183" y="0"/>
                </a:lnTo>
                <a:lnTo>
                  <a:pt x="11733183" y="2554262"/>
                </a:lnTo>
                <a:lnTo>
                  <a:pt x="0" y="2554262"/>
                </a:lnTo>
                <a:lnTo>
                  <a:pt x="0" y="0"/>
                </a:lnTo>
                <a:close/>
              </a:path>
            </a:pathLst>
          </a:custGeom>
          <a:blipFill>
            <a:blip r:embed="rId14"/>
            <a:stretch>
              <a:fillRect l="-1336" t="-15429" r="-2291" b="-159447"/>
            </a:stretch>
          </a:blipFill>
        </p:spPr>
      </p:sp>
      <p:sp>
        <p:nvSpPr>
          <p:cNvPr name="TextBox 14" id="14"/>
          <p:cNvSpPr txBox="true"/>
          <p:nvPr/>
        </p:nvSpPr>
        <p:spPr>
          <a:xfrm rot="0">
            <a:off x="4097649" y="1875784"/>
            <a:ext cx="7109231" cy="1004824"/>
          </a:xfrm>
          <a:prstGeom prst="rect">
            <a:avLst/>
          </a:prstGeom>
        </p:spPr>
        <p:txBody>
          <a:bodyPr anchor="t" rtlCol="false" tIns="0" lIns="0" bIns="0" rIns="0">
            <a:spAutoFit/>
          </a:bodyPr>
          <a:lstStyle/>
          <a:p>
            <a:pPr algn="just">
              <a:lnSpc>
                <a:spcPts val="7807"/>
              </a:lnSpc>
            </a:pPr>
            <a:r>
              <a:rPr lang="en-US" sz="6099" spc="-54">
                <a:solidFill>
                  <a:srgbClr val="FBF7F1"/>
                </a:solidFill>
                <a:latin typeface="Ahkio"/>
                <a:ea typeface="Ahkio"/>
                <a:cs typeface="Ahkio"/>
                <a:sym typeface="Ahkio"/>
              </a:rPr>
              <a:t>Our Audience</a:t>
            </a:r>
          </a:p>
        </p:txBody>
      </p:sp>
      <p:sp>
        <p:nvSpPr>
          <p:cNvPr name="TextBox 15" id="15"/>
          <p:cNvSpPr txBox="true"/>
          <p:nvPr/>
        </p:nvSpPr>
        <p:spPr>
          <a:xfrm rot="0">
            <a:off x="3844588" y="5714047"/>
            <a:ext cx="2963100" cy="1533906"/>
          </a:xfrm>
          <a:prstGeom prst="rect">
            <a:avLst/>
          </a:prstGeom>
        </p:spPr>
        <p:txBody>
          <a:bodyPr anchor="t" rtlCol="false" tIns="0" lIns="0" bIns="0" rIns="0">
            <a:spAutoFit/>
          </a:bodyPr>
          <a:lstStyle/>
          <a:p>
            <a:pPr algn="ctr">
              <a:lnSpc>
                <a:spcPts val="4091"/>
              </a:lnSpc>
            </a:pPr>
            <a:r>
              <a:rPr lang="en-US" sz="3099">
                <a:solidFill>
                  <a:srgbClr val="231F20"/>
                </a:solidFill>
                <a:latin typeface="Handy Casual"/>
                <a:ea typeface="Handy Casual"/>
                <a:cs typeface="Handy Casual"/>
                <a:sym typeface="Handy Casual"/>
              </a:rPr>
              <a:t>Users: Water utilities, municipal corporations, government agencies.</a:t>
            </a:r>
          </a:p>
        </p:txBody>
      </p:sp>
      <p:sp>
        <p:nvSpPr>
          <p:cNvPr name="TextBox 16" id="16"/>
          <p:cNvSpPr txBox="true"/>
          <p:nvPr/>
        </p:nvSpPr>
        <p:spPr>
          <a:xfrm rot="0">
            <a:off x="7861106" y="5411178"/>
            <a:ext cx="2917406" cy="2048256"/>
          </a:xfrm>
          <a:prstGeom prst="rect">
            <a:avLst/>
          </a:prstGeom>
        </p:spPr>
        <p:txBody>
          <a:bodyPr anchor="t" rtlCol="false" tIns="0" lIns="0" bIns="0" rIns="0">
            <a:spAutoFit/>
          </a:bodyPr>
          <a:lstStyle/>
          <a:p>
            <a:pPr algn="ctr">
              <a:lnSpc>
                <a:spcPts val="4091"/>
              </a:lnSpc>
            </a:pPr>
            <a:r>
              <a:rPr lang="en-US" sz="3099">
                <a:solidFill>
                  <a:srgbClr val="231F20"/>
                </a:solidFill>
                <a:latin typeface="Handy Casual"/>
                <a:ea typeface="Handy Casual"/>
                <a:cs typeface="Handy Casual"/>
                <a:sym typeface="Handy Casual"/>
              </a:rPr>
              <a:t>Focus: India (Jal Jeevan Mission, Smart Cities), Asia, developing regions.</a:t>
            </a:r>
          </a:p>
        </p:txBody>
      </p:sp>
      <p:sp>
        <p:nvSpPr>
          <p:cNvPr name="TextBox 17" id="17"/>
          <p:cNvSpPr txBox="true"/>
          <p:nvPr/>
        </p:nvSpPr>
        <p:spPr>
          <a:xfrm rot="0">
            <a:off x="11630050" y="5456872"/>
            <a:ext cx="2775475" cy="2048256"/>
          </a:xfrm>
          <a:prstGeom prst="rect">
            <a:avLst/>
          </a:prstGeom>
        </p:spPr>
        <p:txBody>
          <a:bodyPr anchor="t" rtlCol="false" tIns="0" lIns="0" bIns="0" rIns="0">
            <a:spAutoFit/>
          </a:bodyPr>
          <a:lstStyle/>
          <a:p>
            <a:pPr algn="ctr">
              <a:lnSpc>
                <a:spcPts val="4091"/>
              </a:lnSpc>
            </a:pPr>
            <a:r>
              <a:rPr lang="en-US" sz="3099">
                <a:solidFill>
                  <a:srgbClr val="231F20"/>
                </a:solidFill>
                <a:latin typeface="Handy Casual"/>
                <a:ea typeface="Handy Casual"/>
                <a:cs typeface="Handy Casual"/>
                <a:sym typeface="Handy Casual"/>
              </a:rPr>
              <a:t>Market Size: $10B global NRW market; 500,000+ km of pipelines in India.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TextBox 2" id="2"/>
          <p:cNvSpPr txBox="true"/>
          <p:nvPr/>
        </p:nvSpPr>
        <p:spPr>
          <a:xfrm rot="0">
            <a:off x="5330266" y="753658"/>
            <a:ext cx="7627468" cy="1152525"/>
          </a:xfrm>
          <a:prstGeom prst="rect">
            <a:avLst/>
          </a:prstGeom>
        </p:spPr>
        <p:txBody>
          <a:bodyPr anchor="t" rtlCol="false" tIns="0" lIns="0" bIns="0" rIns="0">
            <a:spAutoFit/>
          </a:bodyPr>
          <a:lstStyle/>
          <a:p>
            <a:pPr algn="ctr">
              <a:lnSpc>
                <a:spcPts val="8958"/>
              </a:lnSpc>
              <a:spcBef>
                <a:spcPct val="0"/>
              </a:spcBef>
            </a:pPr>
            <a:r>
              <a:rPr lang="en-US" sz="7465">
                <a:solidFill>
                  <a:srgbClr val="000000"/>
                </a:solidFill>
                <a:latin typeface="Ahkio"/>
                <a:ea typeface="Ahkio"/>
                <a:cs typeface="Ahkio"/>
                <a:sym typeface="Ahkio"/>
              </a:rPr>
              <a:t>Pilot Rollout</a:t>
            </a:r>
          </a:p>
        </p:txBody>
      </p:sp>
      <p:sp>
        <p:nvSpPr>
          <p:cNvPr name="TextBox 3" id="3"/>
          <p:cNvSpPr txBox="true"/>
          <p:nvPr/>
        </p:nvSpPr>
        <p:spPr>
          <a:xfrm rot="0">
            <a:off x="1960068" y="2419113"/>
            <a:ext cx="14367864" cy="6943725"/>
          </a:xfrm>
          <a:prstGeom prst="rect">
            <a:avLst/>
          </a:prstGeom>
        </p:spPr>
        <p:txBody>
          <a:bodyPr anchor="t" rtlCol="false" tIns="0" lIns="0" bIns="0" rIns="0">
            <a:spAutoFit/>
          </a:bodyPr>
          <a:lstStyle/>
          <a:p>
            <a:pPr algn="l">
              <a:lnSpc>
                <a:spcPts val="4956"/>
              </a:lnSpc>
              <a:spcBef>
                <a:spcPct val="0"/>
              </a:spcBef>
            </a:pPr>
            <a:r>
              <a:rPr lang="en-US" sz="4130">
                <a:solidFill>
                  <a:srgbClr val="000000"/>
                </a:solidFill>
                <a:latin typeface="Ahkio"/>
                <a:ea typeface="Ahkio"/>
                <a:cs typeface="Ahkio"/>
                <a:sym typeface="Ahkio"/>
              </a:rPr>
              <a:t>For the pilot implementation, we will select a 5–30 km section of pipeline with known historical leaks to validate the system. The project will use Sentinel-1 SAR, Landsat multispectral, and ECOSTRESS thermal imagery, combined with 6–12 strategically placed IoT sensors along the pipeline to provide ground truth data. Within three months, we will build the end-to-end pipeline and develop a machine learning model capable of detecting and prioritizing leak alerts. To ensure accuracy, the system’s top alerts will be verified through weekly field inspections by maintenance teams. Performance will be evaluated using Precision@N to measure how accurate the top alerts are, along with tracking the rate of false positives to ensure the system is reliable for real-world deployment.</a:t>
            </a:r>
          </a:p>
        </p:txBody>
      </p:sp>
      <p:sp>
        <p:nvSpPr>
          <p:cNvPr name="Freeform 4" id="4"/>
          <p:cNvSpPr/>
          <p:nvPr/>
        </p:nvSpPr>
        <p:spPr>
          <a:xfrm flipH="false" flipV="false" rot="0">
            <a:off x="15004081" y="1028700"/>
            <a:ext cx="1488455" cy="1291398"/>
          </a:xfrm>
          <a:custGeom>
            <a:avLst/>
            <a:gdLst/>
            <a:ahLst/>
            <a:cxnLst/>
            <a:rect r="r" b="b" t="t" l="l"/>
            <a:pathLst>
              <a:path h="1291398" w="1488455">
                <a:moveTo>
                  <a:pt x="0" y="0"/>
                </a:moveTo>
                <a:lnTo>
                  <a:pt x="1488455" y="0"/>
                </a:lnTo>
                <a:lnTo>
                  <a:pt x="1488455" y="1291398"/>
                </a:lnTo>
                <a:lnTo>
                  <a:pt x="0" y="12913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7810300">
            <a:off x="-2791921" y="727615"/>
            <a:ext cx="3750634" cy="3974660"/>
          </a:xfrm>
          <a:custGeom>
            <a:avLst/>
            <a:gdLst/>
            <a:ahLst/>
            <a:cxnLst/>
            <a:rect r="r" b="b" t="t" l="l"/>
            <a:pathLst>
              <a:path h="3974660" w="3750634">
                <a:moveTo>
                  <a:pt x="0" y="3974660"/>
                </a:moveTo>
                <a:lnTo>
                  <a:pt x="3750634" y="3974660"/>
                </a:lnTo>
                <a:lnTo>
                  <a:pt x="3750634" y="0"/>
                </a:lnTo>
                <a:lnTo>
                  <a:pt x="0" y="0"/>
                </a:lnTo>
                <a:lnTo>
                  <a:pt x="0" y="39746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10800000">
            <a:off x="7670131" y="8661831"/>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0">
            <a:off x="-4146330" y="-145721"/>
            <a:ext cx="13290330" cy="1836482"/>
          </a:xfrm>
          <a:custGeom>
            <a:avLst/>
            <a:gdLst/>
            <a:ahLst/>
            <a:cxnLst/>
            <a:rect r="r" b="b" t="t" l="l"/>
            <a:pathLst>
              <a:path h="1836482" w="13290330">
                <a:moveTo>
                  <a:pt x="13290330" y="0"/>
                </a:moveTo>
                <a:lnTo>
                  <a:pt x="0" y="0"/>
                </a:lnTo>
                <a:lnTo>
                  <a:pt x="0" y="1836482"/>
                </a:lnTo>
                <a:lnTo>
                  <a:pt x="13290330" y="1836482"/>
                </a:lnTo>
                <a:lnTo>
                  <a:pt x="132903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00000">
            <a:off x="8209465" y="8823812"/>
            <a:ext cx="13290330" cy="1836482"/>
          </a:xfrm>
          <a:custGeom>
            <a:avLst/>
            <a:gdLst/>
            <a:ahLst/>
            <a:cxnLst/>
            <a:rect r="r" b="b" t="t" l="l"/>
            <a:pathLst>
              <a:path h="1836482" w="13290330">
                <a:moveTo>
                  <a:pt x="13290331" y="0"/>
                </a:moveTo>
                <a:lnTo>
                  <a:pt x="0" y="0"/>
                </a:lnTo>
                <a:lnTo>
                  <a:pt x="0" y="1836482"/>
                </a:lnTo>
                <a:lnTo>
                  <a:pt x="13290331" y="1836482"/>
                </a:lnTo>
                <a:lnTo>
                  <a:pt x="1329033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219828"/>
            <a:ext cx="7885241" cy="7847344"/>
            <a:chOff x="0" y="0"/>
            <a:chExt cx="10741722" cy="10690097"/>
          </a:xfrm>
        </p:grpSpPr>
        <p:sp>
          <p:nvSpPr>
            <p:cNvPr name="Freeform 5" id="5"/>
            <p:cNvSpPr/>
            <p:nvPr/>
          </p:nvSpPr>
          <p:spPr>
            <a:xfrm flipH="false" flipV="false" rot="0">
              <a:off x="31750" y="31750"/>
              <a:ext cx="10678222" cy="10626596"/>
            </a:xfrm>
            <a:custGeom>
              <a:avLst/>
              <a:gdLst/>
              <a:ahLst/>
              <a:cxnLst/>
              <a:rect r="r" b="b" t="t" l="l"/>
              <a:pathLst>
                <a:path h="10626596" w="10678222">
                  <a:moveTo>
                    <a:pt x="10585511" y="10626596"/>
                  </a:moveTo>
                  <a:lnTo>
                    <a:pt x="92710" y="10626596"/>
                  </a:lnTo>
                  <a:cubicBezTo>
                    <a:pt x="41910" y="10626596"/>
                    <a:pt x="0" y="10584686"/>
                    <a:pt x="0" y="10533886"/>
                  </a:cubicBezTo>
                  <a:lnTo>
                    <a:pt x="0" y="92710"/>
                  </a:lnTo>
                  <a:cubicBezTo>
                    <a:pt x="0" y="41910"/>
                    <a:pt x="41910" y="0"/>
                    <a:pt x="92710" y="0"/>
                  </a:cubicBezTo>
                  <a:lnTo>
                    <a:pt x="10584242" y="0"/>
                  </a:lnTo>
                  <a:cubicBezTo>
                    <a:pt x="10635042" y="0"/>
                    <a:pt x="10676951" y="41910"/>
                    <a:pt x="10676951" y="92710"/>
                  </a:cubicBezTo>
                  <a:lnTo>
                    <a:pt x="10676951" y="10532617"/>
                  </a:lnTo>
                  <a:cubicBezTo>
                    <a:pt x="10678222" y="10584686"/>
                    <a:pt x="10636311" y="10626596"/>
                    <a:pt x="10585511" y="10626596"/>
                  </a:cubicBezTo>
                  <a:close/>
                </a:path>
              </a:pathLst>
            </a:custGeom>
            <a:solidFill>
              <a:srgbClr val="FFFEF7"/>
            </a:solidFill>
          </p:spPr>
        </p:sp>
        <p:sp>
          <p:nvSpPr>
            <p:cNvPr name="Freeform 6" id="6"/>
            <p:cNvSpPr/>
            <p:nvPr/>
          </p:nvSpPr>
          <p:spPr>
            <a:xfrm flipH="false" flipV="false" rot="0">
              <a:off x="0" y="0"/>
              <a:ext cx="10741722" cy="10690096"/>
            </a:xfrm>
            <a:custGeom>
              <a:avLst/>
              <a:gdLst/>
              <a:ahLst/>
              <a:cxnLst/>
              <a:rect r="r" b="b" t="t" l="l"/>
              <a:pathLst>
                <a:path h="10690096" w="10741722">
                  <a:moveTo>
                    <a:pt x="10617261" y="59690"/>
                  </a:moveTo>
                  <a:cubicBezTo>
                    <a:pt x="10652822" y="59690"/>
                    <a:pt x="10682032" y="88900"/>
                    <a:pt x="10682032" y="124460"/>
                  </a:cubicBezTo>
                  <a:lnTo>
                    <a:pt x="10682032" y="10565636"/>
                  </a:lnTo>
                  <a:cubicBezTo>
                    <a:pt x="10682032" y="10601196"/>
                    <a:pt x="10652822" y="10630406"/>
                    <a:pt x="10617261" y="10630406"/>
                  </a:cubicBezTo>
                  <a:lnTo>
                    <a:pt x="124460" y="10630406"/>
                  </a:lnTo>
                  <a:cubicBezTo>
                    <a:pt x="88900" y="10630406"/>
                    <a:pt x="59690" y="10601196"/>
                    <a:pt x="59690" y="10565636"/>
                  </a:cubicBezTo>
                  <a:lnTo>
                    <a:pt x="59690" y="124460"/>
                  </a:lnTo>
                  <a:cubicBezTo>
                    <a:pt x="59690" y="88900"/>
                    <a:pt x="88900" y="59690"/>
                    <a:pt x="124460" y="59690"/>
                  </a:cubicBezTo>
                  <a:lnTo>
                    <a:pt x="10617262" y="59690"/>
                  </a:lnTo>
                  <a:moveTo>
                    <a:pt x="10617262" y="0"/>
                  </a:moveTo>
                  <a:lnTo>
                    <a:pt x="124460" y="0"/>
                  </a:lnTo>
                  <a:cubicBezTo>
                    <a:pt x="55880" y="0"/>
                    <a:pt x="0" y="55880"/>
                    <a:pt x="0" y="124460"/>
                  </a:cubicBezTo>
                  <a:lnTo>
                    <a:pt x="0" y="10565636"/>
                  </a:lnTo>
                  <a:cubicBezTo>
                    <a:pt x="0" y="10634217"/>
                    <a:pt x="55880" y="10690096"/>
                    <a:pt x="124460" y="10690096"/>
                  </a:cubicBezTo>
                  <a:lnTo>
                    <a:pt x="10617262" y="10690096"/>
                  </a:lnTo>
                  <a:cubicBezTo>
                    <a:pt x="10685842" y="10690096"/>
                    <a:pt x="10741722" y="10634217"/>
                    <a:pt x="10741722" y="10565636"/>
                  </a:cubicBezTo>
                  <a:lnTo>
                    <a:pt x="10741722" y="124460"/>
                  </a:lnTo>
                  <a:cubicBezTo>
                    <a:pt x="10741722" y="55880"/>
                    <a:pt x="10685842" y="0"/>
                    <a:pt x="10617262" y="0"/>
                  </a:cubicBezTo>
                  <a:close/>
                </a:path>
              </a:pathLst>
            </a:custGeom>
            <a:solidFill>
              <a:srgbClr val="191919"/>
            </a:solidFill>
          </p:spPr>
        </p:sp>
      </p:grpSp>
      <p:sp>
        <p:nvSpPr>
          <p:cNvPr name="TextBox 7" id="7"/>
          <p:cNvSpPr txBox="true"/>
          <p:nvPr/>
        </p:nvSpPr>
        <p:spPr>
          <a:xfrm rot="0">
            <a:off x="1410052" y="1292937"/>
            <a:ext cx="7137053" cy="840106"/>
          </a:xfrm>
          <a:prstGeom prst="rect">
            <a:avLst/>
          </a:prstGeom>
        </p:spPr>
        <p:txBody>
          <a:bodyPr anchor="t" rtlCol="false" tIns="0" lIns="0" bIns="0" rIns="0">
            <a:spAutoFit/>
          </a:bodyPr>
          <a:lstStyle/>
          <a:p>
            <a:pPr algn="l">
              <a:lnSpc>
                <a:spcPts val="6719"/>
              </a:lnSpc>
              <a:spcBef>
                <a:spcPct val="0"/>
              </a:spcBef>
            </a:pPr>
            <a:r>
              <a:rPr lang="en-US" b="true" sz="4799">
                <a:solidFill>
                  <a:srgbClr val="000000"/>
                </a:solidFill>
                <a:latin typeface="Ahkio Bold"/>
                <a:ea typeface="Ahkio Bold"/>
                <a:cs typeface="Ahkio Bold"/>
                <a:sym typeface="Ahkio Bold"/>
              </a:rPr>
              <a:t>TECHNICAL FOUNDATION</a:t>
            </a:r>
          </a:p>
        </p:txBody>
      </p:sp>
      <p:grpSp>
        <p:nvGrpSpPr>
          <p:cNvPr name="Group 8" id="8"/>
          <p:cNvGrpSpPr/>
          <p:nvPr/>
        </p:nvGrpSpPr>
        <p:grpSpPr>
          <a:xfrm rot="0">
            <a:off x="9475811" y="1219828"/>
            <a:ext cx="8388222" cy="7847344"/>
            <a:chOff x="0" y="0"/>
            <a:chExt cx="11426910" cy="10690097"/>
          </a:xfrm>
        </p:grpSpPr>
        <p:sp>
          <p:nvSpPr>
            <p:cNvPr name="Freeform 9" id="9"/>
            <p:cNvSpPr/>
            <p:nvPr/>
          </p:nvSpPr>
          <p:spPr>
            <a:xfrm flipH="false" flipV="false" rot="0">
              <a:off x="31750" y="31750"/>
              <a:ext cx="11363410" cy="10626596"/>
            </a:xfrm>
            <a:custGeom>
              <a:avLst/>
              <a:gdLst/>
              <a:ahLst/>
              <a:cxnLst/>
              <a:rect r="r" b="b" t="t" l="l"/>
              <a:pathLst>
                <a:path h="10626596" w="11363410">
                  <a:moveTo>
                    <a:pt x="11270700" y="10626596"/>
                  </a:moveTo>
                  <a:lnTo>
                    <a:pt x="92710" y="10626596"/>
                  </a:lnTo>
                  <a:cubicBezTo>
                    <a:pt x="41910" y="10626596"/>
                    <a:pt x="0" y="10584686"/>
                    <a:pt x="0" y="10533886"/>
                  </a:cubicBezTo>
                  <a:lnTo>
                    <a:pt x="0" y="92710"/>
                  </a:lnTo>
                  <a:cubicBezTo>
                    <a:pt x="0" y="41910"/>
                    <a:pt x="41910" y="0"/>
                    <a:pt x="92710" y="0"/>
                  </a:cubicBezTo>
                  <a:lnTo>
                    <a:pt x="11269431" y="0"/>
                  </a:lnTo>
                  <a:cubicBezTo>
                    <a:pt x="11320231" y="0"/>
                    <a:pt x="11362141" y="41910"/>
                    <a:pt x="11362141" y="92710"/>
                  </a:cubicBezTo>
                  <a:lnTo>
                    <a:pt x="11362141" y="10532617"/>
                  </a:lnTo>
                  <a:cubicBezTo>
                    <a:pt x="11363410" y="10584686"/>
                    <a:pt x="11321500" y="10626596"/>
                    <a:pt x="11270700" y="10626596"/>
                  </a:cubicBezTo>
                  <a:close/>
                </a:path>
              </a:pathLst>
            </a:custGeom>
            <a:solidFill>
              <a:srgbClr val="FFFEF7"/>
            </a:solidFill>
          </p:spPr>
        </p:sp>
        <p:sp>
          <p:nvSpPr>
            <p:cNvPr name="Freeform 10" id="10"/>
            <p:cNvSpPr/>
            <p:nvPr/>
          </p:nvSpPr>
          <p:spPr>
            <a:xfrm flipH="false" flipV="false" rot="0">
              <a:off x="0" y="0"/>
              <a:ext cx="11426910" cy="10690096"/>
            </a:xfrm>
            <a:custGeom>
              <a:avLst/>
              <a:gdLst/>
              <a:ahLst/>
              <a:cxnLst/>
              <a:rect r="r" b="b" t="t" l="l"/>
              <a:pathLst>
                <a:path h="10690096" w="11426910">
                  <a:moveTo>
                    <a:pt x="11302450" y="59690"/>
                  </a:moveTo>
                  <a:cubicBezTo>
                    <a:pt x="11338010" y="59690"/>
                    <a:pt x="11367220" y="88900"/>
                    <a:pt x="11367220" y="124460"/>
                  </a:cubicBezTo>
                  <a:lnTo>
                    <a:pt x="11367220" y="10565636"/>
                  </a:lnTo>
                  <a:cubicBezTo>
                    <a:pt x="11367220" y="10601196"/>
                    <a:pt x="11338010" y="10630406"/>
                    <a:pt x="11302450" y="10630406"/>
                  </a:cubicBezTo>
                  <a:lnTo>
                    <a:pt x="124460" y="10630406"/>
                  </a:lnTo>
                  <a:cubicBezTo>
                    <a:pt x="88900" y="10630406"/>
                    <a:pt x="59690" y="10601196"/>
                    <a:pt x="59690" y="10565636"/>
                  </a:cubicBezTo>
                  <a:lnTo>
                    <a:pt x="59690" y="124460"/>
                  </a:lnTo>
                  <a:cubicBezTo>
                    <a:pt x="59690" y="88900"/>
                    <a:pt x="88900" y="59690"/>
                    <a:pt x="124460" y="59690"/>
                  </a:cubicBezTo>
                  <a:lnTo>
                    <a:pt x="11302450" y="59690"/>
                  </a:lnTo>
                  <a:moveTo>
                    <a:pt x="11302450" y="0"/>
                  </a:moveTo>
                  <a:lnTo>
                    <a:pt x="124460" y="0"/>
                  </a:lnTo>
                  <a:cubicBezTo>
                    <a:pt x="55880" y="0"/>
                    <a:pt x="0" y="55880"/>
                    <a:pt x="0" y="124460"/>
                  </a:cubicBezTo>
                  <a:lnTo>
                    <a:pt x="0" y="10565636"/>
                  </a:lnTo>
                  <a:cubicBezTo>
                    <a:pt x="0" y="10634217"/>
                    <a:pt x="55880" y="10690096"/>
                    <a:pt x="124460" y="10690096"/>
                  </a:cubicBezTo>
                  <a:lnTo>
                    <a:pt x="11302450" y="10690096"/>
                  </a:lnTo>
                  <a:cubicBezTo>
                    <a:pt x="11371031" y="10690096"/>
                    <a:pt x="11426910" y="10634217"/>
                    <a:pt x="11426910" y="10565636"/>
                  </a:cubicBezTo>
                  <a:lnTo>
                    <a:pt x="11426910" y="124460"/>
                  </a:lnTo>
                  <a:cubicBezTo>
                    <a:pt x="11426910" y="55880"/>
                    <a:pt x="11371031" y="0"/>
                    <a:pt x="11302450" y="0"/>
                  </a:cubicBezTo>
                  <a:close/>
                </a:path>
              </a:pathLst>
            </a:custGeom>
            <a:solidFill>
              <a:srgbClr val="191919"/>
            </a:solidFill>
          </p:spPr>
        </p:sp>
      </p:grpSp>
      <p:sp>
        <p:nvSpPr>
          <p:cNvPr name="TextBox 11" id="11"/>
          <p:cNvSpPr txBox="true"/>
          <p:nvPr/>
        </p:nvSpPr>
        <p:spPr>
          <a:xfrm rot="0">
            <a:off x="8547105" y="1292937"/>
            <a:ext cx="10245634" cy="840106"/>
          </a:xfrm>
          <a:prstGeom prst="rect">
            <a:avLst/>
          </a:prstGeom>
        </p:spPr>
        <p:txBody>
          <a:bodyPr anchor="t" rtlCol="false" tIns="0" lIns="0" bIns="0" rIns="0">
            <a:spAutoFit/>
          </a:bodyPr>
          <a:lstStyle/>
          <a:p>
            <a:pPr algn="ctr">
              <a:lnSpc>
                <a:spcPts val="6719"/>
              </a:lnSpc>
              <a:spcBef>
                <a:spcPct val="0"/>
              </a:spcBef>
            </a:pPr>
            <a:r>
              <a:rPr lang="en-US" b="true" sz="4799">
                <a:solidFill>
                  <a:srgbClr val="000000"/>
                </a:solidFill>
                <a:latin typeface="Ahkio Bold"/>
                <a:ea typeface="Ahkio Bold"/>
                <a:cs typeface="Ahkio Bold"/>
                <a:sym typeface="Ahkio Bold"/>
              </a:rPr>
              <a:t>IMPACT AND FEASIBILITY</a:t>
            </a:r>
          </a:p>
        </p:txBody>
      </p:sp>
      <p:sp>
        <p:nvSpPr>
          <p:cNvPr name="TextBox 12" id="12"/>
          <p:cNvSpPr txBox="true"/>
          <p:nvPr/>
        </p:nvSpPr>
        <p:spPr>
          <a:xfrm rot="0">
            <a:off x="1578872" y="3053743"/>
            <a:ext cx="6799413" cy="5001768"/>
          </a:xfrm>
          <a:prstGeom prst="rect">
            <a:avLst/>
          </a:prstGeom>
        </p:spPr>
        <p:txBody>
          <a:bodyPr anchor="t" rtlCol="false" tIns="0" lIns="0" bIns="0" rIns="0">
            <a:spAutoFit/>
          </a:bodyPr>
          <a:lstStyle/>
          <a:p>
            <a:pPr algn="l">
              <a:lnSpc>
                <a:spcPts val="5675"/>
              </a:lnSpc>
            </a:pPr>
            <a:r>
              <a:rPr lang="en-US" sz="4299">
                <a:solidFill>
                  <a:srgbClr val="231F20"/>
                </a:solidFill>
                <a:latin typeface="Ahkio"/>
                <a:ea typeface="Ahkio"/>
                <a:cs typeface="Ahkio"/>
                <a:sym typeface="Ahkio"/>
              </a:rPr>
              <a:t>• Storage: AWS S3 / MinIO</a:t>
            </a:r>
          </a:p>
          <a:p>
            <a:pPr algn="l">
              <a:lnSpc>
                <a:spcPts val="5675"/>
              </a:lnSpc>
            </a:pPr>
            <a:r>
              <a:rPr lang="en-US" sz="4299">
                <a:solidFill>
                  <a:srgbClr val="231F20"/>
                </a:solidFill>
                <a:latin typeface="Ahkio"/>
                <a:ea typeface="Ahkio"/>
                <a:cs typeface="Ahkio"/>
                <a:sym typeface="Ahkio"/>
              </a:rPr>
              <a:t>• Processing: Python, </a:t>
            </a:r>
            <a:r>
              <a:rPr lang="en-US" sz="4299">
                <a:solidFill>
                  <a:srgbClr val="231F20"/>
                </a:solidFill>
                <a:latin typeface="Ahkio"/>
                <a:ea typeface="Ahkio"/>
                <a:cs typeface="Ahkio"/>
                <a:sym typeface="Ahkio"/>
              </a:rPr>
              <a:t>GDAL, SNAP, rasterio</a:t>
            </a:r>
          </a:p>
          <a:p>
            <a:pPr algn="l">
              <a:lnSpc>
                <a:spcPts val="5675"/>
              </a:lnSpc>
            </a:pPr>
            <a:r>
              <a:rPr lang="en-US" sz="4299">
                <a:solidFill>
                  <a:srgbClr val="231F20"/>
                </a:solidFill>
                <a:latin typeface="Ahkio"/>
                <a:ea typeface="Ahkio"/>
                <a:cs typeface="Ahkio"/>
                <a:sym typeface="Ahkio"/>
              </a:rPr>
              <a:t>• ML: PyTorch, scikit-learn</a:t>
            </a:r>
          </a:p>
          <a:p>
            <a:pPr algn="l">
              <a:lnSpc>
                <a:spcPts val="5675"/>
              </a:lnSpc>
            </a:pPr>
            <a:r>
              <a:rPr lang="en-US" sz="4299">
                <a:solidFill>
                  <a:srgbClr val="231F20"/>
                </a:solidFill>
                <a:latin typeface="Ahkio"/>
                <a:ea typeface="Ahkio"/>
                <a:cs typeface="Ahkio"/>
                <a:sym typeface="Ahkio"/>
              </a:rPr>
              <a:t>• GIS: PostGIS</a:t>
            </a:r>
          </a:p>
          <a:p>
            <a:pPr algn="l">
              <a:lnSpc>
                <a:spcPts val="5675"/>
              </a:lnSpc>
            </a:pPr>
            <a:r>
              <a:rPr lang="en-US" sz="4299">
                <a:solidFill>
                  <a:srgbClr val="231F20"/>
                </a:solidFill>
                <a:latin typeface="Ahkio"/>
                <a:ea typeface="Ahkio"/>
                <a:cs typeface="Ahkio"/>
                <a:sym typeface="Ahkio"/>
              </a:rPr>
              <a:t>• Dashboard: React + Leaflet</a:t>
            </a:r>
          </a:p>
          <a:p>
            <a:pPr algn="l">
              <a:lnSpc>
                <a:spcPts val="5675"/>
              </a:lnSpc>
            </a:pPr>
            <a:r>
              <a:rPr lang="en-US" sz="4299">
                <a:solidFill>
                  <a:srgbClr val="231F20"/>
                </a:solidFill>
                <a:latin typeface="Ahkio"/>
                <a:ea typeface="Ahkio"/>
                <a:cs typeface="Ahkio"/>
                <a:sym typeface="Ahkio"/>
              </a:rPr>
              <a:t>• IoT: MQTT, LoRaWAN/NB-IoT</a:t>
            </a:r>
          </a:p>
        </p:txBody>
      </p:sp>
      <p:sp>
        <p:nvSpPr>
          <p:cNvPr name="TextBox 13" id="13"/>
          <p:cNvSpPr txBox="true"/>
          <p:nvPr/>
        </p:nvSpPr>
        <p:spPr>
          <a:xfrm rot="0">
            <a:off x="9855881" y="2696556"/>
            <a:ext cx="7628083" cy="5716143"/>
          </a:xfrm>
          <a:prstGeom prst="rect">
            <a:avLst/>
          </a:prstGeom>
        </p:spPr>
        <p:txBody>
          <a:bodyPr anchor="t" rtlCol="false" tIns="0" lIns="0" bIns="0" rIns="0">
            <a:spAutoFit/>
          </a:bodyPr>
          <a:lstStyle/>
          <a:p>
            <a:pPr algn="l">
              <a:lnSpc>
                <a:spcPts val="5675"/>
              </a:lnSpc>
            </a:pPr>
            <a:r>
              <a:rPr lang="en-US" sz="4299" b="true">
                <a:solidFill>
                  <a:srgbClr val="231F20"/>
                </a:solidFill>
                <a:latin typeface="Ahkio Bold"/>
                <a:ea typeface="Ahkio Bold"/>
                <a:cs typeface="Ahkio Bold"/>
                <a:sym typeface="Ahkio Bold"/>
              </a:rPr>
              <a:t>• Impact: 10–20% NRW reduction, saving millions in water/costs.</a:t>
            </a:r>
          </a:p>
          <a:p>
            <a:pPr algn="l">
              <a:lnSpc>
                <a:spcPts val="5675"/>
              </a:lnSpc>
            </a:pPr>
            <a:r>
              <a:rPr lang="en-US" sz="4299" b="true">
                <a:solidFill>
                  <a:srgbClr val="231F20"/>
                </a:solidFill>
                <a:latin typeface="Ahkio Bold"/>
                <a:ea typeface="Ahkio Bold"/>
                <a:cs typeface="Ahkio Bold"/>
                <a:sym typeface="Ahkio Bold"/>
              </a:rPr>
              <a:t>• Environmental: </a:t>
            </a:r>
            <a:r>
              <a:rPr lang="en-US" sz="4299" b="true">
                <a:solidFill>
                  <a:srgbClr val="231F20"/>
                </a:solidFill>
                <a:latin typeface="Ahkio Bold"/>
                <a:ea typeface="Ahkio Bold"/>
                <a:cs typeface="Ahkio Bold"/>
                <a:sym typeface="Ahkio Bold"/>
              </a:rPr>
              <a:t>Conserves water, reduces energy in treatment.</a:t>
            </a:r>
          </a:p>
          <a:p>
            <a:pPr algn="l">
              <a:lnSpc>
                <a:spcPts val="5675"/>
              </a:lnSpc>
            </a:pPr>
            <a:r>
              <a:rPr lang="en-US" sz="4299" b="true">
                <a:solidFill>
                  <a:srgbClr val="231F20"/>
                </a:solidFill>
                <a:latin typeface="Ahkio Bold"/>
                <a:ea typeface="Ahkio Bold"/>
                <a:cs typeface="Ahkio Bold"/>
                <a:sym typeface="Ahkio Bold"/>
              </a:rPr>
              <a:t>• Practicality: 3-month pilot for 5–30 km pipeline area.</a:t>
            </a:r>
          </a:p>
          <a:p>
            <a:pPr algn="l">
              <a:lnSpc>
                <a:spcPts val="5675"/>
              </a:lnSpc>
            </a:pPr>
            <a:r>
              <a:rPr lang="en-US" sz="4299" b="true">
                <a:solidFill>
                  <a:srgbClr val="231F20"/>
                </a:solidFill>
                <a:latin typeface="Ahkio Bold"/>
                <a:ea typeface="Ahkio Bold"/>
                <a:cs typeface="Ahkio Bold"/>
                <a:sym typeface="Ahkio Bold"/>
              </a:rPr>
              <a:t>• Metrics: Precision@N, time-to-repair, NRW reduction.</a:t>
            </a:r>
          </a:p>
        </p:txBody>
      </p:sp>
      <p:sp>
        <p:nvSpPr>
          <p:cNvPr name="AutoShape 14" id="14"/>
          <p:cNvSpPr/>
          <p:nvPr/>
        </p:nvSpPr>
        <p:spPr>
          <a:xfrm>
            <a:off x="1028700" y="2314017"/>
            <a:ext cx="7885241" cy="19050"/>
          </a:xfrm>
          <a:prstGeom prst="line">
            <a:avLst/>
          </a:prstGeom>
          <a:ln cap="flat" w="38100">
            <a:solidFill>
              <a:srgbClr val="000000"/>
            </a:solidFill>
            <a:prstDash val="solid"/>
            <a:headEnd type="none" len="sm" w="sm"/>
            <a:tailEnd type="none" len="sm" w="sm"/>
          </a:ln>
        </p:spPr>
      </p:sp>
      <p:sp>
        <p:nvSpPr>
          <p:cNvPr name="AutoShape 15" id="15"/>
          <p:cNvSpPr/>
          <p:nvPr/>
        </p:nvSpPr>
        <p:spPr>
          <a:xfrm flipH="true">
            <a:off x="9475811" y="2333067"/>
            <a:ext cx="8388222" cy="0"/>
          </a:xfrm>
          <a:prstGeom prst="line">
            <a:avLst/>
          </a:prstGeom>
          <a:ln cap="flat" w="38100">
            <a:solidFill>
              <a:srgbClr val="000000"/>
            </a:solidFill>
            <a:prstDash val="solid"/>
            <a:headEnd type="none" len="sm" w="sm"/>
            <a:tailEnd type="none" len="sm" w="sm"/>
          </a:ln>
        </p:spPr>
      </p:sp>
      <p:sp>
        <p:nvSpPr>
          <p:cNvPr name="Freeform 16" id="16"/>
          <p:cNvSpPr/>
          <p:nvPr/>
        </p:nvSpPr>
        <p:spPr>
          <a:xfrm flipH="false" flipV="false" rot="3995677">
            <a:off x="-81553" y="7220088"/>
            <a:ext cx="2983210" cy="2891002"/>
          </a:xfrm>
          <a:custGeom>
            <a:avLst/>
            <a:gdLst/>
            <a:ahLst/>
            <a:cxnLst/>
            <a:rect r="r" b="b" t="t" l="l"/>
            <a:pathLst>
              <a:path h="2891002" w="2983210">
                <a:moveTo>
                  <a:pt x="0" y="0"/>
                </a:moveTo>
                <a:lnTo>
                  <a:pt x="2983210" y="0"/>
                </a:lnTo>
                <a:lnTo>
                  <a:pt x="2983210" y="2891003"/>
                </a:lnTo>
                <a:lnTo>
                  <a:pt x="0" y="28910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TextBox 2" id="2"/>
          <p:cNvSpPr txBox="true"/>
          <p:nvPr/>
        </p:nvSpPr>
        <p:spPr>
          <a:xfrm rot="0">
            <a:off x="3906097" y="5143500"/>
            <a:ext cx="11190417" cy="4372356"/>
          </a:xfrm>
          <a:prstGeom prst="rect">
            <a:avLst/>
          </a:prstGeom>
        </p:spPr>
        <p:txBody>
          <a:bodyPr anchor="t" rtlCol="false" tIns="0" lIns="0" bIns="0" rIns="0">
            <a:spAutoFit/>
          </a:bodyPr>
          <a:lstStyle/>
          <a:p>
            <a:pPr algn="just">
              <a:lnSpc>
                <a:spcPts val="4331"/>
              </a:lnSpc>
            </a:pPr>
            <a:r>
              <a:rPr lang="en-US" sz="3799">
                <a:solidFill>
                  <a:srgbClr val="000000"/>
                </a:solidFill>
                <a:latin typeface="Ahkio"/>
                <a:ea typeface="Ahkio"/>
                <a:cs typeface="Ahkio"/>
                <a:sym typeface="Ahkio"/>
              </a:rPr>
              <a:t>our system offers a smart and scalable solution to the global problem of water loss by integrating satellite imagery, IoT sensors, and machine learning. By combining wide-area monitoring with real-time ground data, it enables early leak detection, reduces repair costs, and ensures reliable water supply. With its practicality and potential for expansion, this approach can play a key role in building sustainable and resilient water infrastructure worldwide.</a:t>
            </a:r>
          </a:p>
        </p:txBody>
      </p:sp>
      <p:sp>
        <p:nvSpPr>
          <p:cNvPr name="Freeform 3" id="3"/>
          <p:cNvSpPr/>
          <p:nvPr/>
        </p:nvSpPr>
        <p:spPr>
          <a:xfrm flipH="false" flipV="false" rot="0">
            <a:off x="4742707" y="1589776"/>
            <a:ext cx="9699658" cy="3103890"/>
          </a:xfrm>
          <a:custGeom>
            <a:avLst/>
            <a:gdLst/>
            <a:ahLst/>
            <a:cxnLst/>
            <a:rect r="r" b="b" t="t" l="l"/>
            <a:pathLst>
              <a:path h="3103890" w="9699658">
                <a:moveTo>
                  <a:pt x="0" y="0"/>
                </a:moveTo>
                <a:lnTo>
                  <a:pt x="9699657" y="0"/>
                </a:lnTo>
                <a:lnTo>
                  <a:pt x="9699657" y="3103891"/>
                </a:lnTo>
                <a:lnTo>
                  <a:pt x="0" y="3103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166726">
            <a:off x="4816097" y="2647944"/>
            <a:ext cx="9365337" cy="938297"/>
          </a:xfrm>
          <a:prstGeom prst="rect">
            <a:avLst/>
          </a:prstGeom>
        </p:spPr>
        <p:txBody>
          <a:bodyPr anchor="t" rtlCol="false" tIns="0" lIns="0" bIns="0" rIns="0">
            <a:spAutoFit/>
          </a:bodyPr>
          <a:lstStyle/>
          <a:p>
            <a:pPr algn="ctr">
              <a:lnSpc>
                <a:spcPts val="7667"/>
              </a:lnSpc>
              <a:spcBef>
                <a:spcPct val="0"/>
              </a:spcBef>
            </a:pPr>
            <a:r>
              <a:rPr lang="en-US" sz="5477" spc="213">
                <a:solidFill>
                  <a:srgbClr val="000000"/>
                </a:solidFill>
                <a:latin typeface="TAN Headline"/>
                <a:ea typeface="TAN Headline"/>
                <a:cs typeface="TAN Headline"/>
                <a:sym typeface="TAN Headline"/>
              </a:rPr>
              <a:t>CONCLUSIONS</a:t>
            </a:r>
          </a:p>
        </p:txBody>
      </p:sp>
      <p:sp>
        <p:nvSpPr>
          <p:cNvPr name="Freeform 5" id="5"/>
          <p:cNvSpPr/>
          <p:nvPr/>
        </p:nvSpPr>
        <p:spPr>
          <a:xfrm flipH="false" flipV="false" rot="0">
            <a:off x="10663243" y="3355180"/>
            <a:ext cx="2537821" cy="1172012"/>
          </a:xfrm>
          <a:custGeom>
            <a:avLst/>
            <a:gdLst/>
            <a:ahLst/>
            <a:cxnLst/>
            <a:rect r="r" b="b" t="t" l="l"/>
            <a:pathLst>
              <a:path h="1172012" w="2537821">
                <a:moveTo>
                  <a:pt x="0" y="0"/>
                </a:moveTo>
                <a:lnTo>
                  <a:pt x="2537821" y="0"/>
                </a:lnTo>
                <a:lnTo>
                  <a:pt x="2537821" y="1172011"/>
                </a:lnTo>
                <a:lnTo>
                  <a:pt x="0" y="1172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91967">
            <a:off x="4392492" y="950145"/>
            <a:ext cx="2241878" cy="2042147"/>
          </a:xfrm>
          <a:custGeom>
            <a:avLst/>
            <a:gdLst/>
            <a:ahLst/>
            <a:cxnLst/>
            <a:rect r="r" b="b" t="t" l="l"/>
            <a:pathLst>
              <a:path h="2042147" w="2241878">
                <a:moveTo>
                  <a:pt x="0" y="0"/>
                </a:moveTo>
                <a:lnTo>
                  <a:pt x="2241878" y="0"/>
                </a:lnTo>
                <a:lnTo>
                  <a:pt x="2241878" y="2042147"/>
                </a:lnTo>
                <a:lnTo>
                  <a:pt x="0" y="20421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4706294">
            <a:off x="-104297" y="1286525"/>
            <a:ext cx="3895386" cy="4128059"/>
          </a:xfrm>
          <a:custGeom>
            <a:avLst/>
            <a:gdLst/>
            <a:ahLst/>
            <a:cxnLst/>
            <a:rect r="r" b="b" t="t" l="l"/>
            <a:pathLst>
              <a:path h="4128059" w="3895386">
                <a:moveTo>
                  <a:pt x="0" y="4128058"/>
                </a:moveTo>
                <a:lnTo>
                  <a:pt x="3895387" y="4128058"/>
                </a:lnTo>
                <a:lnTo>
                  <a:pt x="3895387" y="0"/>
                </a:lnTo>
                <a:lnTo>
                  <a:pt x="0" y="0"/>
                </a:lnTo>
                <a:lnTo>
                  <a:pt x="0" y="412805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568932">
            <a:off x="15725241" y="2538573"/>
            <a:ext cx="1447775" cy="2075662"/>
          </a:xfrm>
          <a:custGeom>
            <a:avLst/>
            <a:gdLst/>
            <a:ahLst/>
            <a:cxnLst/>
            <a:rect r="r" b="b" t="t" l="l"/>
            <a:pathLst>
              <a:path h="2075662" w="1447775">
                <a:moveTo>
                  <a:pt x="0" y="0"/>
                </a:moveTo>
                <a:lnTo>
                  <a:pt x="1447774" y="0"/>
                </a:lnTo>
                <a:lnTo>
                  <a:pt x="1447774" y="2075662"/>
                </a:lnTo>
                <a:lnTo>
                  <a:pt x="0" y="20756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0538197" y="0"/>
            <a:ext cx="10083238" cy="1393320"/>
          </a:xfrm>
          <a:custGeom>
            <a:avLst/>
            <a:gdLst/>
            <a:ahLst/>
            <a:cxnLst/>
            <a:rect r="r" b="b" t="t" l="l"/>
            <a:pathLst>
              <a:path h="1393320" w="10083238">
                <a:moveTo>
                  <a:pt x="0" y="0"/>
                </a:moveTo>
                <a:lnTo>
                  <a:pt x="10083238" y="0"/>
                </a:lnTo>
                <a:lnTo>
                  <a:pt x="10083238" y="1393320"/>
                </a:lnTo>
                <a:lnTo>
                  <a:pt x="0" y="13933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0800000">
            <a:off x="-4098675" y="8905418"/>
            <a:ext cx="9279203" cy="2078243"/>
          </a:xfrm>
          <a:custGeom>
            <a:avLst/>
            <a:gdLst/>
            <a:ahLst/>
            <a:cxnLst/>
            <a:rect r="r" b="b" t="t" l="l"/>
            <a:pathLst>
              <a:path h="2078243" w="9279203">
                <a:moveTo>
                  <a:pt x="0" y="0"/>
                </a:moveTo>
                <a:lnTo>
                  <a:pt x="9279203" y="0"/>
                </a:lnTo>
                <a:lnTo>
                  <a:pt x="9279203" y="2078242"/>
                </a:lnTo>
                <a:lnTo>
                  <a:pt x="0" y="2078242"/>
                </a:lnTo>
                <a:lnTo>
                  <a:pt x="0" y="0"/>
                </a:lnTo>
                <a:close/>
              </a:path>
            </a:pathLst>
          </a:custGeom>
          <a:blipFill>
            <a:blip r:embed="rId12">
              <a:extLst>
                <a:ext uri="{96DAC541-7B7A-43D3-8B79-37D633B846F1}">
                  <asvg:svgBlip xmlns:asvg="http://schemas.microsoft.com/office/drawing/2016/SVG/main" r:embed="rId13"/>
                </a:ext>
              </a:extLst>
            </a:blip>
            <a:stretch>
              <a:fillRect l="-62081"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491967">
            <a:off x="4366081" y="1559751"/>
            <a:ext cx="1707111" cy="1555022"/>
          </a:xfrm>
          <a:custGeom>
            <a:avLst/>
            <a:gdLst/>
            <a:ahLst/>
            <a:cxnLst/>
            <a:rect r="r" b="b" t="t" l="l"/>
            <a:pathLst>
              <a:path h="1555022" w="1707111">
                <a:moveTo>
                  <a:pt x="0" y="0"/>
                </a:moveTo>
                <a:lnTo>
                  <a:pt x="1707110" y="0"/>
                </a:lnTo>
                <a:lnTo>
                  <a:pt x="1707110" y="1555023"/>
                </a:lnTo>
                <a:lnTo>
                  <a:pt x="0" y="1555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182303" y="4220763"/>
            <a:ext cx="3634128" cy="4158041"/>
          </a:xfrm>
          <a:custGeom>
            <a:avLst/>
            <a:gdLst/>
            <a:ahLst/>
            <a:cxnLst/>
            <a:rect r="r" b="b" t="t" l="l"/>
            <a:pathLst>
              <a:path h="4158041" w="3634128">
                <a:moveTo>
                  <a:pt x="0" y="0"/>
                </a:moveTo>
                <a:lnTo>
                  <a:pt x="3634128" y="0"/>
                </a:lnTo>
                <a:lnTo>
                  <a:pt x="3634128" y="4158041"/>
                </a:lnTo>
                <a:lnTo>
                  <a:pt x="0" y="41580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7104264">
            <a:off x="152632" y="3931750"/>
            <a:ext cx="3895386" cy="4128059"/>
          </a:xfrm>
          <a:custGeom>
            <a:avLst/>
            <a:gdLst/>
            <a:ahLst/>
            <a:cxnLst/>
            <a:rect r="r" b="b" t="t" l="l"/>
            <a:pathLst>
              <a:path h="4128059" w="3895386">
                <a:moveTo>
                  <a:pt x="0" y="4128059"/>
                </a:moveTo>
                <a:lnTo>
                  <a:pt x="3895387" y="4128059"/>
                </a:lnTo>
                <a:lnTo>
                  <a:pt x="3895387" y="0"/>
                </a:lnTo>
                <a:lnTo>
                  <a:pt x="0" y="0"/>
                </a:lnTo>
                <a:lnTo>
                  <a:pt x="0" y="412805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568932">
            <a:off x="12894609" y="960037"/>
            <a:ext cx="1480813" cy="2123030"/>
          </a:xfrm>
          <a:custGeom>
            <a:avLst/>
            <a:gdLst/>
            <a:ahLst/>
            <a:cxnLst/>
            <a:rect r="r" b="b" t="t" l="l"/>
            <a:pathLst>
              <a:path h="2123030" w="1480813">
                <a:moveTo>
                  <a:pt x="0" y="0"/>
                </a:moveTo>
                <a:lnTo>
                  <a:pt x="1480813" y="0"/>
                </a:lnTo>
                <a:lnTo>
                  <a:pt x="1480813" y="2123030"/>
                </a:lnTo>
                <a:lnTo>
                  <a:pt x="0" y="2123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51494" y="9464776"/>
            <a:ext cx="7643954" cy="447675"/>
          </a:xfrm>
          <a:prstGeom prst="rect">
            <a:avLst/>
          </a:prstGeom>
        </p:spPr>
        <p:txBody>
          <a:bodyPr anchor="t" rtlCol="false" tIns="0" lIns="0" bIns="0" rIns="0">
            <a:spAutoFit/>
          </a:bodyPr>
          <a:lstStyle/>
          <a:p>
            <a:pPr algn="l">
              <a:lnSpc>
                <a:spcPts val="3480"/>
              </a:lnSpc>
              <a:spcBef>
                <a:spcPct val="0"/>
              </a:spcBef>
            </a:pPr>
            <a:r>
              <a:rPr lang="en-US" sz="2900">
                <a:solidFill>
                  <a:srgbClr val="000000"/>
                </a:solidFill>
                <a:latin typeface="Ahkio"/>
                <a:ea typeface="Ahkio"/>
                <a:cs typeface="Ahkio"/>
                <a:sym typeface="Ahkio"/>
              </a:rPr>
              <a:t>For any query contact : pranavkhatade02@gmail.com</a:t>
            </a:r>
          </a:p>
        </p:txBody>
      </p:sp>
      <p:sp>
        <p:nvSpPr>
          <p:cNvPr name="TextBox 9" id="9"/>
          <p:cNvSpPr txBox="true"/>
          <p:nvPr/>
        </p:nvSpPr>
        <p:spPr>
          <a:xfrm rot="0">
            <a:off x="4955707" y="2879051"/>
            <a:ext cx="8376587" cy="5499753"/>
          </a:xfrm>
          <a:prstGeom prst="rect">
            <a:avLst/>
          </a:prstGeom>
        </p:spPr>
        <p:txBody>
          <a:bodyPr anchor="t" rtlCol="false" tIns="0" lIns="0" bIns="0" rIns="0">
            <a:spAutoFit/>
          </a:bodyPr>
          <a:lstStyle/>
          <a:p>
            <a:pPr algn="ctr">
              <a:lnSpc>
                <a:spcPts val="21650"/>
              </a:lnSpc>
            </a:pPr>
            <a:r>
              <a:rPr lang="en-US" sz="18504" spc="407">
                <a:solidFill>
                  <a:srgbClr val="000000"/>
                </a:solidFill>
                <a:latin typeface="Pompiere"/>
                <a:ea typeface="Pompiere"/>
                <a:cs typeface="Pompiere"/>
                <a:sym typeface="Pompiere"/>
              </a:rPr>
              <a:t>THANK</a:t>
            </a:r>
          </a:p>
          <a:p>
            <a:pPr algn="ctr">
              <a:lnSpc>
                <a:spcPts val="21650"/>
              </a:lnSpc>
            </a:pPr>
            <a:r>
              <a:rPr lang="en-US" sz="18504" spc="407">
                <a:solidFill>
                  <a:srgbClr val="000000"/>
                </a:solidFill>
                <a:latin typeface="Pompiere"/>
                <a:ea typeface="Pompiere"/>
                <a:cs typeface="Pompiere"/>
                <a:sym typeface="Pompier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DAGzgWD--SA</dc:identifier>
  <dcterms:modified xsi:type="dcterms:W3CDTF">2011-08-01T06:04:30Z</dcterms:modified>
  <cp:revision>1</cp:revision>
  <dc:title>By Olivia Wilson</dc:title>
</cp:coreProperties>
</file>